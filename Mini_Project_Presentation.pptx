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soon pathak" userId="1271ff3b2874a207" providerId="LiveId" clId="{D9CF42C1-17F2-4BFE-86A0-9D54C8720362}"/>
    <pc:docChg chg="undo custSel modSld">
      <pc:chgData name="prasoon pathak" userId="1271ff3b2874a207" providerId="LiveId" clId="{D9CF42C1-17F2-4BFE-86A0-9D54C8720362}" dt="2026-10-21T08:17:27.721" v="443" actId="403"/>
      <pc:docMkLst>
        <pc:docMk/>
      </pc:docMkLst>
      <pc:sldChg chg="modSp mod">
        <pc:chgData name="prasoon pathak" userId="1271ff3b2874a207" providerId="LiveId" clId="{D9CF42C1-17F2-4BFE-86A0-9D54C8720362}" dt="2026-10-19T18:13:54.077" v="271" actId="1036"/>
        <pc:sldMkLst>
          <pc:docMk/>
          <pc:sldMk cId="0" sldId="256"/>
        </pc:sldMkLst>
        <pc:spChg chg="mod">
          <ac:chgData name="prasoon pathak" userId="1271ff3b2874a207" providerId="LiveId" clId="{D9CF42C1-17F2-4BFE-86A0-9D54C8720362}" dt="2026-10-19T18:13:54.077" v="271" actId="1036"/>
          <ac:spMkLst>
            <pc:docMk/>
            <pc:sldMk cId="0" sldId="256"/>
            <ac:spMk id="2" creationId="{00000000-0000-0000-0000-000000000000}"/>
          </ac:spMkLst>
        </pc:spChg>
        <pc:spChg chg="mod">
          <ac:chgData name="prasoon pathak" userId="1271ff3b2874a207" providerId="LiveId" clId="{D9CF42C1-17F2-4BFE-86A0-9D54C8720362}" dt="2026-10-19T18:13:19.167" v="266" actId="20577"/>
          <ac:spMkLst>
            <pc:docMk/>
            <pc:sldMk cId="0" sldId="256"/>
            <ac:spMk id="3" creationId="{00000000-0000-0000-0000-000000000000}"/>
          </ac:spMkLst>
        </pc:spChg>
        <pc:spChg chg="mod">
          <ac:chgData name="prasoon pathak" userId="1271ff3b2874a207" providerId="LiveId" clId="{D9CF42C1-17F2-4BFE-86A0-9D54C8720362}" dt="2026-10-19T18:13:44.550" v="269" actId="1076"/>
          <ac:spMkLst>
            <pc:docMk/>
            <pc:sldMk cId="0" sldId="256"/>
            <ac:spMk id="4" creationId="{00000000-0000-0000-0000-000000000000}"/>
          </ac:spMkLst>
        </pc:spChg>
        <pc:picChg chg="mod">
          <ac:chgData name="prasoon pathak" userId="1271ff3b2874a207" providerId="LiveId" clId="{D9CF42C1-17F2-4BFE-86A0-9D54C8720362}" dt="2026-10-19T18:12:30.337" v="244" actId="1076"/>
          <ac:picMkLst>
            <pc:docMk/>
            <pc:sldMk cId="0" sldId="256"/>
            <ac:picMk id="5" creationId="{00000000-0000-0000-0000-000000000000}"/>
          </ac:picMkLst>
        </pc:picChg>
      </pc:sldChg>
      <pc:sldChg chg="modSp mod">
        <pc:chgData name="prasoon pathak" userId="1271ff3b2874a207" providerId="LiveId" clId="{D9CF42C1-17F2-4BFE-86A0-9D54C8720362}" dt="2026-10-19T18:40:31.004" v="296" actId="20577"/>
        <pc:sldMkLst>
          <pc:docMk/>
          <pc:sldMk cId="0" sldId="257"/>
        </pc:sldMkLst>
        <pc:spChg chg="mod">
          <ac:chgData name="prasoon pathak" userId="1271ff3b2874a207" providerId="LiveId" clId="{D9CF42C1-17F2-4BFE-86A0-9D54C8720362}" dt="2026-10-19T18:14:39.936" v="285" actId="1036"/>
          <ac:spMkLst>
            <pc:docMk/>
            <pc:sldMk cId="0" sldId="257"/>
            <ac:spMk id="2" creationId="{00000000-0000-0000-0000-000000000000}"/>
          </ac:spMkLst>
        </pc:spChg>
        <pc:spChg chg="mod">
          <ac:chgData name="prasoon pathak" userId="1271ff3b2874a207" providerId="LiveId" clId="{D9CF42C1-17F2-4BFE-86A0-9D54C8720362}" dt="2026-10-19T18:40:31.004" v="296" actId="20577"/>
          <ac:spMkLst>
            <pc:docMk/>
            <pc:sldMk cId="0" sldId="257"/>
            <ac:spMk id="5" creationId="{00000000-0000-0000-0000-000000000000}"/>
          </ac:spMkLst>
        </pc:spChg>
        <pc:picChg chg="mod">
          <ac:chgData name="prasoon pathak" userId="1271ff3b2874a207" providerId="LiveId" clId="{D9CF42C1-17F2-4BFE-86A0-9D54C8720362}" dt="2026-10-19T18:14:18.156" v="277" actId="1076"/>
          <ac:picMkLst>
            <pc:docMk/>
            <pc:sldMk cId="0" sldId="257"/>
            <ac:picMk id="7" creationId="{00000000-0000-0000-0000-000000000000}"/>
          </ac:picMkLst>
        </pc:picChg>
      </pc:sldChg>
      <pc:sldChg chg="modSp mod">
        <pc:chgData name="prasoon pathak" userId="1271ff3b2874a207" providerId="LiveId" clId="{D9CF42C1-17F2-4BFE-86A0-9D54C8720362}" dt="2026-10-19T18:15:01.089" v="291" actId="20577"/>
        <pc:sldMkLst>
          <pc:docMk/>
          <pc:sldMk cId="0" sldId="258"/>
        </pc:sldMkLst>
        <pc:spChg chg="mod">
          <ac:chgData name="prasoon pathak" userId="1271ff3b2874a207" providerId="LiveId" clId="{D9CF42C1-17F2-4BFE-86A0-9D54C8720362}" dt="2026-10-19T18:15:01.089" v="291" actId="20577"/>
          <ac:spMkLst>
            <pc:docMk/>
            <pc:sldMk cId="0" sldId="258"/>
            <ac:spMk id="5" creationId="{00000000-0000-0000-0000-000000000000}"/>
          </ac:spMkLst>
        </pc:spChg>
        <pc:picChg chg="mod">
          <ac:chgData name="prasoon pathak" userId="1271ff3b2874a207" providerId="LiveId" clId="{D9CF42C1-17F2-4BFE-86A0-9D54C8720362}" dt="2026-10-19T18:14:48.239" v="287" actId="14100"/>
          <ac:picMkLst>
            <pc:docMk/>
            <pc:sldMk cId="0" sldId="258"/>
            <ac:picMk id="7" creationId="{00000000-0000-0000-0000-000000000000}"/>
          </ac:picMkLst>
        </pc:picChg>
      </pc:sldChg>
      <pc:sldChg chg="modSp mod">
        <pc:chgData name="prasoon pathak" userId="1271ff3b2874a207" providerId="LiveId" clId="{D9CF42C1-17F2-4BFE-86A0-9D54C8720362}" dt="2026-10-19T18:40:26.103" v="295" actId="20577"/>
        <pc:sldMkLst>
          <pc:docMk/>
          <pc:sldMk cId="0" sldId="259"/>
        </pc:sldMkLst>
        <pc:spChg chg="mod">
          <ac:chgData name="prasoon pathak" userId="1271ff3b2874a207" providerId="LiveId" clId="{D9CF42C1-17F2-4BFE-86A0-9D54C8720362}" dt="2026-10-19T18:40:26.103" v="295" actId="20577"/>
          <ac:spMkLst>
            <pc:docMk/>
            <pc:sldMk cId="0" sldId="259"/>
            <ac:spMk id="5" creationId="{00000000-0000-0000-0000-000000000000}"/>
          </ac:spMkLst>
        </pc:spChg>
      </pc:sldChg>
      <pc:sldChg chg="modSp mod">
        <pc:chgData name="prasoon pathak" userId="1271ff3b2874a207" providerId="LiveId" clId="{D9CF42C1-17F2-4BFE-86A0-9D54C8720362}" dt="2026-10-19T18:40:44.225" v="300" actId="20577"/>
        <pc:sldMkLst>
          <pc:docMk/>
          <pc:sldMk cId="0" sldId="260"/>
        </pc:sldMkLst>
        <pc:spChg chg="mod">
          <ac:chgData name="prasoon pathak" userId="1271ff3b2874a207" providerId="LiveId" clId="{D9CF42C1-17F2-4BFE-86A0-9D54C8720362}" dt="2026-10-19T18:40:44.225" v="300" actId="20577"/>
          <ac:spMkLst>
            <pc:docMk/>
            <pc:sldMk cId="0" sldId="260"/>
            <ac:spMk id="5" creationId="{00000000-0000-0000-0000-000000000000}"/>
          </ac:spMkLst>
        </pc:spChg>
      </pc:sldChg>
      <pc:sldChg chg="modSp mod">
        <pc:chgData name="prasoon pathak" userId="1271ff3b2874a207" providerId="LiveId" clId="{D9CF42C1-17F2-4BFE-86A0-9D54C8720362}" dt="2026-10-19T18:41:18.774" v="304" actId="20577"/>
        <pc:sldMkLst>
          <pc:docMk/>
          <pc:sldMk cId="0" sldId="261"/>
        </pc:sldMkLst>
        <pc:spChg chg="mod">
          <ac:chgData name="prasoon pathak" userId="1271ff3b2874a207" providerId="LiveId" clId="{D9CF42C1-17F2-4BFE-86A0-9D54C8720362}" dt="2026-10-19T18:41:18.774" v="304" actId="20577"/>
          <ac:spMkLst>
            <pc:docMk/>
            <pc:sldMk cId="0" sldId="261"/>
            <ac:spMk id="5" creationId="{00000000-0000-0000-0000-000000000000}"/>
          </ac:spMkLst>
        </pc:spChg>
      </pc:sldChg>
      <pc:sldChg chg="modSp mod">
        <pc:chgData name="prasoon pathak" userId="1271ff3b2874a207" providerId="LiveId" clId="{D9CF42C1-17F2-4BFE-86A0-9D54C8720362}" dt="2026-10-19T18:41:33.972" v="308" actId="20577"/>
        <pc:sldMkLst>
          <pc:docMk/>
          <pc:sldMk cId="0" sldId="262"/>
        </pc:sldMkLst>
        <pc:spChg chg="mod">
          <ac:chgData name="prasoon pathak" userId="1271ff3b2874a207" providerId="LiveId" clId="{D9CF42C1-17F2-4BFE-86A0-9D54C8720362}" dt="2026-10-19T18:41:33.972" v="308" actId="20577"/>
          <ac:spMkLst>
            <pc:docMk/>
            <pc:sldMk cId="0" sldId="262"/>
            <ac:spMk id="5" creationId="{00000000-0000-0000-0000-000000000000}"/>
          </ac:spMkLst>
        </pc:spChg>
      </pc:sldChg>
      <pc:sldChg chg="modSp mod">
        <pc:chgData name="prasoon pathak" userId="1271ff3b2874a207" providerId="LiveId" clId="{D9CF42C1-17F2-4BFE-86A0-9D54C8720362}" dt="2026-10-19T18:44:28.457" v="435" actId="404"/>
        <pc:sldMkLst>
          <pc:docMk/>
          <pc:sldMk cId="0" sldId="263"/>
        </pc:sldMkLst>
        <pc:spChg chg="mod">
          <ac:chgData name="prasoon pathak" userId="1271ff3b2874a207" providerId="LiveId" clId="{D9CF42C1-17F2-4BFE-86A0-9D54C8720362}" dt="2026-10-19T18:41:54.042" v="315" actId="1036"/>
          <ac:spMkLst>
            <pc:docMk/>
            <pc:sldMk cId="0" sldId="263"/>
            <ac:spMk id="2" creationId="{00000000-0000-0000-0000-000000000000}"/>
          </ac:spMkLst>
        </pc:spChg>
        <pc:spChg chg="mod">
          <ac:chgData name="prasoon pathak" userId="1271ff3b2874a207" providerId="LiveId" clId="{D9CF42C1-17F2-4BFE-86A0-9D54C8720362}" dt="2026-10-19T18:44:28.457" v="435" actId="404"/>
          <ac:spMkLst>
            <pc:docMk/>
            <pc:sldMk cId="0" sldId="263"/>
            <ac:spMk id="3" creationId="{00000000-0000-0000-0000-000000000000}"/>
          </ac:spMkLst>
        </pc:spChg>
        <pc:spChg chg="mod">
          <ac:chgData name="prasoon pathak" userId="1271ff3b2874a207" providerId="LiveId" clId="{D9CF42C1-17F2-4BFE-86A0-9D54C8720362}" dt="2026-10-19T18:41:48.371" v="312" actId="20577"/>
          <ac:spMkLst>
            <pc:docMk/>
            <pc:sldMk cId="0" sldId="263"/>
            <ac:spMk id="5" creationId="{00000000-0000-0000-0000-000000000000}"/>
          </ac:spMkLst>
        </pc:spChg>
      </pc:sldChg>
      <pc:sldChg chg="modSp mod">
        <pc:chgData name="prasoon pathak" userId="1271ff3b2874a207" providerId="LiveId" clId="{D9CF42C1-17F2-4BFE-86A0-9D54C8720362}" dt="2026-10-19T18:44:08.765" v="431" actId="403"/>
        <pc:sldMkLst>
          <pc:docMk/>
          <pc:sldMk cId="0" sldId="264"/>
        </pc:sldMkLst>
        <pc:spChg chg="mod">
          <ac:chgData name="prasoon pathak" userId="1271ff3b2874a207" providerId="LiveId" clId="{D9CF42C1-17F2-4BFE-86A0-9D54C8720362}" dt="2026-10-19T18:44:08.765" v="431" actId="403"/>
          <ac:spMkLst>
            <pc:docMk/>
            <pc:sldMk cId="0" sldId="264"/>
            <ac:spMk id="3" creationId="{00000000-0000-0000-0000-000000000000}"/>
          </ac:spMkLst>
        </pc:spChg>
        <pc:spChg chg="mod">
          <ac:chgData name="prasoon pathak" userId="1271ff3b2874a207" providerId="LiveId" clId="{D9CF42C1-17F2-4BFE-86A0-9D54C8720362}" dt="2026-10-19T18:42:07.024" v="319" actId="20577"/>
          <ac:spMkLst>
            <pc:docMk/>
            <pc:sldMk cId="0" sldId="264"/>
            <ac:spMk id="5" creationId="{00000000-0000-0000-0000-000000000000}"/>
          </ac:spMkLst>
        </pc:spChg>
      </pc:sldChg>
      <pc:sldChg chg="modSp mod">
        <pc:chgData name="prasoon pathak" userId="1271ff3b2874a207" providerId="LiveId" clId="{D9CF42C1-17F2-4BFE-86A0-9D54C8720362}" dt="2026-10-19T18:44:01.614" v="428" actId="404"/>
        <pc:sldMkLst>
          <pc:docMk/>
          <pc:sldMk cId="0" sldId="265"/>
        </pc:sldMkLst>
        <pc:spChg chg="mod">
          <ac:chgData name="prasoon pathak" userId="1271ff3b2874a207" providerId="LiveId" clId="{D9CF42C1-17F2-4BFE-86A0-9D54C8720362}" dt="2026-10-19T18:44:01.614" v="428" actId="404"/>
          <ac:spMkLst>
            <pc:docMk/>
            <pc:sldMk cId="0" sldId="265"/>
            <ac:spMk id="3" creationId="{00000000-0000-0000-0000-000000000000}"/>
          </ac:spMkLst>
        </pc:spChg>
        <pc:spChg chg="mod">
          <ac:chgData name="prasoon pathak" userId="1271ff3b2874a207" providerId="LiveId" clId="{D9CF42C1-17F2-4BFE-86A0-9D54C8720362}" dt="2026-10-19T18:42:18.240" v="323" actId="20577"/>
          <ac:spMkLst>
            <pc:docMk/>
            <pc:sldMk cId="0" sldId="265"/>
            <ac:spMk id="5" creationId="{00000000-0000-0000-0000-000000000000}"/>
          </ac:spMkLst>
        </pc:spChg>
        <pc:spChg chg="mod">
          <ac:chgData name="prasoon pathak" userId="1271ff3b2874a207" providerId="LiveId" clId="{D9CF42C1-17F2-4BFE-86A0-9D54C8720362}" dt="2026-10-19T18:42:26.230" v="327" actId="20577"/>
          <ac:spMkLst>
            <pc:docMk/>
            <pc:sldMk cId="0" sldId="265"/>
            <ac:spMk id="6" creationId="{00000000-0000-0000-0000-000000000000}"/>
          </ac:spMkLst>
        </pc:spChg>
        <pc:spChg chg="mod">
          <ac:chgData name="prasoon pathak" userId="1271ff3b2874a207" providerId="LiveId" clId="{D9CF42C1-17F2-4BFE-86A0-9D54C8720362}" dt="2026-10-19T18:42:35.101" v="331" actId="20577"/>
          <ac:spMkLst>
            <pc:docMk/>
            <pc:sldMk cId="0" sldId="265"/>
            <ac:spMk id="7" creationId="{00000000-0000-0000-0000-000000000000}"/>
          </ac:spMkLst>
        </pc:spChg>
      </pc:sldChg>
      <pc:sldChg chg="delSp modSp mod">
        <pc:chgData name="prasoon pathak" userId="1271ff3b2874a207" providerId="LiveId" clId="{D9CF42C1-17F2-4BFE-86A0-9D54C8720362}" dt="2026-10-21T08:17:27.721" v="443" actId="403"/>
        <pc:sldMkLst>
          <pc:docMk/>
          <pc:sldMk cId="0" sldId="266"/>
        </pc:sldMkLst>
        <pc:spChg chg="mod">
          <ac:chgData name="prasoon pathak" userId="1271ff3b2874a207" providerId="LiveId" clId="{D9CF42C1-17F2-4BFE-86A0-9D54C8720362}" dt="2026-10-19T18:43:48.148" v="423" actId="1035"/>
          <ac:spMkLst>
            <pc:docMk/>
            <pc:sldMk cId="0" sldId="266"/>
            <ac:spMk id="2" creationId="{00000000-0000-0000-0000-000000000000}"/>
          </ac:spMkLst>
        </pc:spChg>
        <pc:spChg chg="mod">
          <ac:chgData name="prasoon pathak" userId="1271ff3b2874a207" providerId="LiveId" clId="{D9CF42C1-17F2-4BFE-86A0-9D54C8720362}" dt="2026-10-19T18:43:30.771" v="346" actId="404"/>
          <ac:spMkLst>
            <pc:docMk/>
            <pc:sldMk cId="0" sldId="266"/>
            <ac:spMk id="3" creationId="{00000000-0000-0000-0000-000000000000}"/>
          </ac:spMkLst>
        </pc:spChg>
        <pc:spChg chg="mod">
          <ac:chgData name="prasoon pathak" userId="1271ff3b2874a207" providerId="LiveId" clId="{D9CF42C1-17F2-4BFE-86A0-9D54C8720362}" dt="2026-10-21T08:17:27.721" v="443" actId="403"/>
          <ac:spMkLst>
            <pc:docMk/>
            <pc:sldMk cId="0" sldId="266"/>
            <ac:spMk id="5" creationId="{00000000-0000-0000-0000-000000000000}"/>
          </ac:spMkLst>
        </pc:spChg>
        <pc:spChg chg="del mod">
          <ac:chgData name="prasoon pathak" userId="1271ff3b2874a207" providerId="LiveId" clId="{D9CF42C1-17F2-4BFE-86A0-9D54C8720362}" dt="2026-10-21T08:17:02.184" v="439" actId="21"/>
          <ac:spMkLst>
            <pc:docMk/>
            <pc:sldMk cId="0" sldId="266"/>
            <ac:spMk id="6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9664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3794"/>
            <a:ext cx="10728655" cy="594556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365760" rIns="731520" numCol="1" rtlCol="0" anchor="ctr"/>
          <a:lstStyle/>
          <a:p>
            <a:pPr algn="ctr"/>
            <a:endParaRPr lang="en-US" sz="1200" b="1" dirty="0">
              <a:solidFill>
                <a:srgbClr val="0284C7"/>
              </a:solidFill>
              <a:latin typeface="Segoe UI"/>
            </a:endParaRPr>
          </a:p>
          <a:p>
            <a:pPr algn="ctr"/>
            <a:endParaRPr lang="en-IN" sz="1200" b="1" dirty="0">
              <a:solidFill>
                <a:srgbClr val="0284C7"/>
              </a:solidFill>
              <a:latin typeface="Segoe UI"/>
            </a:endParaRPr>
          </a:p>
          <a:p>
            <a:pPr algn="ctr"/>
            <a:r>
              <a:rPr sz="1200" b="1" dirty="0">
                <a:solidFill>
                  <a:srgbClr val="0284C7"/>
                </a:solidFill>
                <a:latin typeface="Segoe UI"/>
              </a:rPr>
              <a:t>A MINI PROJECT PRESENTATION ON</a:t>
            </a:r>
            <a:endParaRPr lang="en-US" sz="1200" b="1" dirty="0">
              <a:solidFill>
                <a:srgbClr val="0284C7"/>
              </a:solidFill>
              <a:latin typeface="Segoe UI"/>
            </a:endParaRPr>
          </a:p>
          <a:p>
            <a:pPr algn="ctr"/>
            <a:endParaRPr sz="1200" b="1" dirty="0">
              <a:solidFill>
                <a:srgbClr val="0284C7"/>
              </a:solidFill>
              <a:latin typeface="Segoe UI"/>
            </a:endParaRPr>
          </a:p>
          <a:p>
            <a:pPr algn="ctr">
              <a:spcBef>
                <a:spcPts val="600"/>
              </a:spcBef>
            </a:pPr>
            <a:r>
              <a:rPr sz="2000" b="1" dirty="0">
                <a:solidFill>
                  <a:srgbClr val="0F172A"/>
                </a:solidFill>
                <a:latin typeface="Segoe UI"/>
              </a:rPr>
              <a:t>DATA ANALYTICS:
SALES PERFORMANCE ANALYSIS </a:t>
            </a:r>
            <a:endParaRPr lang="en-US" sz="2000" b="1" dirty="0">
              <a:solidFill>
                <a:srgbClr val="0F172A"/>
              </a:solidFill>
              <a:latin typeface="Segoe UI"/>
            </a:endParaRPr>
          </a:p>
          <a:p>
            <a:pPr algn="ctr">
              <a:spcBef>
                <a:spcPts val="600"/>
              </a:spcBef>
            </a:pPr>
            <a:r>
              <a:rPr sz="2000" b="1" dirty="0">
                <a:solidFill>
                  <a:srgbClr val="0F172A"/>
                </a:solidFill>
                <a:latin typeface="Segoe UI"/>
              </a:rPr>
              <a:t>&amp; CUSTOMER SEGMENTATION
</a:t>
            </a:r>
            <a:r>
              <a:rPr sz="1050" i="1" dirty="0">
                <a:solidFill>
                  <a:srgbClr val="475569"/>
                </a:solidFill>
                <a:latin typeface="Segoe UI"/>
              </a:rPr>
              <a:t>Submitted in partial fulfillment of the requirements for </a:t>
            </a:r>
            <a:endParaRPr lang="en-US" sz="1050" i="1" dirty="0">
              <a:solidFill>
                <a:srgbClr val="475569"/>
              </a:solidFill>
              <a:latin typeface="Segoe UI"/>
            </a:endParaRPr>
          </a:p>
          <a:p>
            <a:pPr algn="ctr">
              <a:spcBef>
                <a:spcPts val="600"/>
              </a:spcBef>
            </a:pPr>
            <a:r>
              <a:rPr sz="1050" i="1" dirty="0">
                <a:solidFill>
                  <a:srgbClr val="475569"/>
                </a:solidFill>
                <a:latin typeface="Segoe UI"/>
              </a:rPr>
              <a:t>the award of the degree of
</a:t>
            </a:r>
            <a:r>
              <a:rPr sz="1200" b="1" dirty="0">
                <a:solidFill>
                  <a:srgbClr val="0F172A"/>
                </a:solidFill>
                <a:latin typeface="Segoe UI"/>
              </a:rPr>
              <a:t>Bachelor of Technology in Computer Science &amp; Engineering</a:t>
            </a:r>
            <a:endParaRPr lang="en-US" sz="1200" b="1" dirty="0">
              <a:solidFill>
                <a:srgbClr val="0F172A"/>
              </a:solidFill>
              <a:latin typeface="Segoe UI"/>
            </a:endParaRPr>
          </a:p>
          <a:p>
            <a:pPr algn="ctr">
              <a:spcBef>
                <a:spcPts val="600"/>
              </a:spcBef>
            </a:pPr>
            <a:endParaRPr lang="en-US" sz="1200" b="1" dirty="0">
              <a:solidFill>
                <a:srgbClr val="0F172A"/>
              </a:solidFill>
              <a:latin typeface="Segoe UI"/>
            </a:endParaRPr>
          </a:p>
          <a:p>
            <a:pPr algn="ctr">
              <a:spcBef>
                <a:spcPts val="600"/>
              </a:spcBef>
            </a:pPr>
            <a:r>
              <a:rPr sz="1100" b="1" dirty="0">
                <a:solidFill>
                  <a:srgbClr val="0F172A"/>
                </a:solidFill>
                <a:latin typeface="Segoe UI"/>
              </a:rPr>
              <a:t>Department of Computer Science &amp; Engineering
UNITED INSTITUTE OF TECHNOLOGY (284),</a:t>
            </a:r>
            <a:r>
              <a:rPr lang="en-US" sz="1100" b="1" dirty="0">
                <a:solidFill>
                  <a:srgbClr val="0F172A"/>
                </a:solidFill>
                <a:latin typeface="Segoe UI"/>
              </a:rPr>
              <a:t> Naini </a:t>
            </a:r>
            <a:r>
              <a:rPr lang="en-US" sz="1100" b="1" dirty="0" err="1">
                <a:solidFill>
                  <a:srgbClr val="0F172A"/>
                </a:solidFill>
                <a:latin typeface="Segoe UI"/>
              </a:rPr>
              <a:t>Praygraj</a:t>
            </a:r>
            <a:r>
              <a:rPr sz="1100" b="1" dirty="0">
                <a:solidFill>
                  <a:srgbClr val="0F172A"/>
                </a:solidFill>
                <a:latin typeface="Segoe UI"/>
              </a:rPr>
              <a:t>
</a:t>
            </a:r>
            <a:endParaRPr lang="en-IN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600"/>
              </a:spcBef>
            </a:pPr>
            <a:r>
              <a:rPr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</a:t>
            </a: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Prasoon Pathak </a:t>
            </a:r>
          </a:p>
          <a:p>
            <a:pPr algn="ctr">
              <a:spcBef>
                <a:spcPts val="600"/>
              </a:spcBef>
            </a:pPr>
            <a:r>
              <a:rPr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(Uni. Roll No:</a:t>
            </a: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402840109004</a:t>
            </a:r>
            <a:r>
              <a:rPr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600"/>
              </a:spcBef>
            </a:pPr>
            <a:r>
              <a:rPr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Faculty Guide: </a:t>
            </a: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Ms. Sonali Kumari</a:t>
            </a:r>
            <a:endParaRPr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 flipV="1">
            <a:off x="1627239" y="640370"/>
            <a:ext cx="8937522" cy="45719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3491" y="806638"/>
            <a:ext cx="1124712" cy="8077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496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09728" bIns="91440" rtlCol="0" anchor="ctr"/>
          <a:lstStyle/>
          <a:p>
            <a:pPr algn="ctr"/>
            <a:r>
              <a:rPr sz="1000" b="1">
                <a:solidFill>
                  <a:srgbClr val="0284C7"/>
                </a:solidFill>
                <a:latin typeface="Segoe UI"/>
              </a:rPr>
              <a:t>PROJECT OVERVIEW  |  </a:t>
            </a:r>
            <a:r>
              <a:rPr sz="1600" b="1">
                <a:solidFill>
                  <a:srgbClr val="0F172A"/>
                </a:solidFill>
                <a:latin typeface="Segoe UI"/>
              </a:rPr>
              <a:t>Project Overview &amp; Engineering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65760"/>
            <a:ext cx="73152" cy="6858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5212080" cy="5166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bIns="182880" rtlCol="0" anchor="ctr"/>
          <a:lstStyle/>
          <a:p>
            <a:pPr algn="ctr">
              <a:spcAft>
                <a:spcPts val="800"/>
              </a:spcAft>
            </a:pPr>
            <a:r>
              <a:rPr sz="1200" b="1" dirty="0">
                <a:solidFill>
                  <a:srgbClr val="0284C7"/>
                </a:solidFill>
                <a:latin typeface="Segoe UI"/>
              </a:rPr>
              <a:t>[EXECUTIVE SCOPE] </a:t>
            </a:r>
            <a:endParaRPr lang="en-US" sz="1200" b="1" dirty="0">
              <a:solidFill>
                <a:srgbClr val="0284C7"/>
              </a:solidFill>
              <a:latin typeface="Segoe UI"/>
            </a:endParaRPr>
          </a:p>
          <a:p>
            <a:pPr algn="ctr">
              <a:spcAft>
                <a:spcPts val="800"/>
              </a:spcAft>
            </a:pPr>
            <a:r>
              <a:rPr b="1" dirty="0">
                <a:solidFill>
                  <a:srgbClr val="0F172A"/>
                </a:solidFill>
                <a:latin typeface="Segoe UI"/>
              </a:rPr>
              <a:t>Dual Analytics Workflow</a:t>
            </a:r>
          </a:p>
          <a:p>
            <a:pPr>
              <a:spcAft>
                <a:spcPts val="600"/>
              </a:spcAft>
            </a:pPr>
            <a:r>
              <a:rPr sz="1400" b="1" dirty="0">
                <a:solidFill>
                  <a:srgbClr val="0F172A"/>
                </a:solidFill>
                <a:latin typeface="Segoe UI"/>
              </a:rPr>
              <a:t>• Background Context: </a:t>
            </a:r>
            <a:r>
              <a:rPr sz="1200" dirty="0">
                <a:solidFill>
                  <a:srgbClr val="475569"/>
                </a:solidFill>
                <a:latin typeface="Segoe UI"/>
              </a:rPr>
              <a:t>Retail organizations generate vast streams of transactional logs but often lack diagnostic profitability models.</a:t>
            </a:r>
          </a:p>
          <a:p>
            <a:pPr>
              <a:spcAft>
                <a:spcPts val="600"/>
              </a:spcAft>
            </a:pPr>
            <a:r>
              <a:rPr sz="1400" b="1" dirty="0">
                <a:solidFill>
                  <a:srgbClr val="0F172A"/>
                </a:solidFill>
                <a:latin typeface="Segoe UI"/>
              </a:rPr>
              <a:t>• Task 1: Superstore Analytics: </a:t>
            </a:r>
            <a:r>
              <a:rPr sz="1200" dirty="0">
                <a:solidFill>
                  <a:srgbClr val="475569"/>
                </a:solidFill>
                <a:latin typeface="Segoe UI"/>
              </a:rPr>
              <a:t>Comprehensive profitability audit across 9,994 retail orders (2014-2017) to uncover hidden category margin leaks.</a:t>
            </a:r>
          </a:p>
          <a:p>
            <a:pPr>
              <a:spcAft>
                <a:spcPts val="600"/>
              </a:spcAft>
            </a:pPr>
            <a:r>
              <a:rPr sz="1400" b="1" dirty="0">
                <a:solidFill>
                  <a:srgbClr val="0F172A"/>
                </a:solidFill>
                <a:latin typeface="Segoe UI"/>
              </a:rPr>
              <a:t>• Task 2: Customer Clustering: </a:t>
            </a:r>
            <a:r>
              <a:rPr sz="1200" dirty="0">
                <a:solidFill>
                  <a:srgbClr val="475569"/>
                </a:solidFill>
                <a:latin typeface="Segoe UI"/>
              </a:rPr>
              <a:t>Unsupervised machine learning on 200 customer profiles using K-Means to identify distinct demographic personas.</a:t>
            </a:r>
          </a:p>
          <a:p>
            <a:pPr>
              <a:spcAft>
                <a:spcPts val="600"/>
              </a:spcAft>
            </a:pPr>
            <a:r>
              <a:rPr sz="1400" b="1" dirty="0">
                <a:solidFill>
                  <a:srgbClr val="0F172A"/>
                </a:solidFill>
                <a:latin typeface="Segoe UI"/>
              </a:rPr>
              <a:t>• Engineering Objective: </a:t>
            </a:r>
            <a:r>
              <a:rPr sz="1200" dirty="0">
                <a:solidFill>
                  <a:srgbClr val="475569"/>
                </a:solidFill>
                <a:latin typeface="Segoe UI"/>
              </a:rPr>
              <a:t>Formulate descriptive KPIs, model discount sensitivity, and establish automated customer segmentation rules.</a:t>
            </a:r>
          </a:p>
          <a:p>
            <a:pPr>
              <a:spcAft>
                <a:spcPts val="600"/>
              </a:spcAft>
            </a:pPr>
            <a:r>
              <a:rPr sz="1400" b="1" dirty="0">
                <a:solidFill>
                  <a:srgbClr val="0F172A"/>
                </a:solidFill>
                <a:latin typeface="Segoe UI"/>
              </a:rPr>
              <a:t>• Expected ROI: </a:t>
            </a:r>
            <a:r>
              <a:rPr sz="1200" dirty="0">
                <a:solidFill>
                  <a:srgbClr val="475569"/>
                </a:solidFill>
                <a:latin typeface="Segoe UI"/>
              </a:rPr>
              <a:t>Eliminate loss-making inventory SKUs, enforce discount boundaries, and lift customer lifetime value (LTV).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34440"/>
            <a:ext cx="5242255" cy="5166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lowchart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1593583"/>
            <a:ext cx="4913071" cy="44480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82512" y="6035040"/>
            <a:ext cx="4913071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i="1">
                <a:solidFill>
                  <a:srgbClr val="475569"/>
                </a:solidFill>
                <a:latin typeface="Segoe UI"/>
              </a:rPr>
              <a:t>Figure 1: End-to-End Analytics &amp; Machine Learning Pipeline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09728" bIns="91440" rtlCol="0" anchor="ctr"/>
          <a:lstStyle/>
          <a:p>
            <a:pPr algn="ctr"/>
            <a:r>
              <a:rPr sz="1000" b="1">
                <a:solidFill>
                  <a:srgbClr val="0284C7"/>
                </a:solidFill>
                <a:latin typeface="Segoe UI"/>
              </a:rPr>
              <a:t>TASK 1: SALES PERFORMANCE  |  </a:t>
            </a:r>
            <a:r>
              <a:rPr sz="1600" b="1">
                <a:solidFill>
                  <a:srgbClr val="0F172A"/>
                </a:solidFill>
                <a:latin typeface="Segoe UI"/>
              </a:rPr>
              <a:t>Task 1: Longitudinal Sales Trends &amp; Profitability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65760"/>
            <a:ext cx="73152" cy="6858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5212080" cy="5166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bIns="182880" rtlCol="0" anchor="ctr"/>
          <a:lstStyle/>
          <a:p>
            <a:pPr algn="ctr">
              <a:spcAft>
                <a:spcPts val="800"/>
              </a:spcAft>
            </a:pPr>
            <a:r>
              <a:rPr sz="1200" b="1" dirty="0">
                <a:solidFill>
                  <a:srgbClr val="0D9488"/>
                </a:solidFill>
                <a:latin typeface="Segoe UI"/>
              </a:rPr>
              <a:t>[FINANCIAL AUDIT] </a:t>
            </a:r>
            <a:endParaRPr lang="en-US" sz="1200" b="1" dirty="0">
              <a:solidFill>
                <a:srgbClr val="0D9488"/>
              </a:solidFill>
              <a:latin typeface="Segoe UI"/>
            </a:endParaRPr>
          </a:p>
          <a:p>
            <a:pPr algn="ctr">
              <a:spcAft>
                <a:spcPts val="800"/>
              </a:spcAft>
            </a:pPr>
            <a:r>
              <a:rPr b="1" dirty="0">
                <a:solidFill>
                  <a:srgbClr val="0F172A"/>
                </a:solidFill>
                <a:latin typeface="Segoe UI"/>
              </a:rPr>
              <a:t>Financial Performance Metrics</a:t>
            </a:r>
          </a:p>
          <a:p>
            <a:pPr>
              <a:spcAft>
                <a:spcPts val="600"/>
              </a:spcAft>
            </a:pPr>
            <a:r>
              <a:rPr sz="1400" b="1" dirty="0">
                <a:solidFill>
                  <a:srgbClr val="0F172A"/>
                </a:solidFill>
                <a:latin typeface="Segoe UI"/>
              </a:rPr>
              <a:t>• Total Sales Turnover: </a:t>
            </a:r>
            <a:r>
              <a:rPr sz="1200" dirty="0">
                <a:solidFill>
                  <a:srgbClr val="475569"/>
                </a:solidFill>
                <a:latin typeface="Segoe UI"/>
              </a:rPr>
              <a:t>$2,297,201 ($2.30M) across 9,994 retail orders spanning 2014 to 2017.</a:t>
            </a:r>
          </a:p>
          <a:p>
            <a:pPr>
              <a:spcAft>
                <a:spcPts val="600"/>
              </a:spcAft>
            </a:pPr>
            <a:r>
              <a:rPr sz="1400" b="1" dirty="0">
                <a:solidFill>
                  <a:srgbClr val="0F172A"/>
                </a:solidFill>
                <a:latin typeface="Segoe UI"/>
              </a:rPr>
              <a:t>• Net Operating Profit: </a:t>
            </a:r>
            <a:r>
              <a:rPr sz="1200" dirty="0">
                <a:solidFill>
                  <a:srgbClr val="475569"/>
                </a:solidFill>
                <a:latin typeface="Segoe UI"/>
              </a:rPr>
              <a:t>$286,397 overall, representing a baseline corporate net margin of 12.47%.</a:t>
            </a:r>
          </a:p>
          <a:p>
            <a:pPr>
              <a:spcAft>
                <a:spcPts val="600"/>
              </a:spcAft>
            </a:pPr>
            <a:r>
              <a:rPr sz="1400" b="1" dirty="0">
                <a:solidFill>
                  <a:srgbClr val="0F172A"/>
                </a:solidFill>
                <a:latin typeface="Segoe UI"/>
              </a:rPr>
              <a:t>• Annual Growth Trajectory: </a:t>
            </a:r>
            <a:r>
              <a:rPr sz="1200" dirty="0">
                <a:solidFill>
                  <a:srgbClr val="475569"/>
                </a:solidFill>
                <a:latin typeface="Segoe UI"/>
              </a:rPr>
              <a:t>Consistent YoY growth averaging +20.4%, demonstrating strong demand expansion.</a:t>
            </a:r>
          </a:p>
          <a:p>
            <a:pPr>
              <a:spcAft>
                <a:spcPts val="600"/>
              </a:spcAft>
            </a:pPr>
            <a:r>
              <a:rPr sz="1400" b="1" dirty="0">
                <a:solidFill>
                  <a:srgbClr val="0F172A"/>
                </a:solidFill>
                <a:latin typeface="Segoe UI"/>
              </a:rPr>
              <a:t>• Seasonal Q4 Volume Surge: </a:t>
            </a:r>
            <a:r>
              <a:rPr sz="1200" dirty="0">
                <a:solidFill>
                  <a:srgbClr val="475569"/>
                </a:solidFill>
                <a:latin typeface="Segoe UI"/>
              </a:rPr>
              <a:t>Sales consistently spike in November and December due to holiday demand and annual corporate budget clearances.</a:t>
            </a:r>
          </a:p>
          <a:p>
            <a:pPr>
              <a:spcAft>
                <a:spcPts val="600"/>
              </a:spcAft>
            </a:pPr>
            <a:r>
              <a:rPr sz="1400" b="1" dirty="0">
                <a:solidFill>
                  <a:srgbClr val="0F172A"/>
                </a:solidFill>
                <a:latin typeface="Segoe UI"/>
              </a:rPr>
              <a:t>• Regional Profitability: </a:t>
            </a:r>
            <a:r>
              <a:rPr sz="1200" dirty="0">
                <a:solidFill>
                  <a:srgbClr val="475569"/>
                </a:solidFill>
                <a:latin typeface="Segoe UI"/>
              </a:rPr>
              <a:t>Western region leads with $108.4K profit (14.9% margin), whereas Central region suffers from aggressive price markdowns.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34440"/>
            <a:ext cx="5242255" cy="5166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monthly_sales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2054942"/>
            <a:ext cx="4913071" cy="311682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82512" y="6035040"/>
            <a:ext cx="4913071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i="1">
                <a:solidFill>
                  <a:srgbClr val="475569"/>
                </a:solidFill>
                <a:latin typeface="Segoe UI"/>
              </a:rPr>
              <a:t>Figure 2: 4-Year Monthly Sales and Profit Longitudinal Trend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09728" bIns="91440" rtlCol="0" anchor="ctr"/>
          <a:lstStyle/>
          <a:p>
            <a:pPr algn="ctr"/>
            <a:r>
              <a:rPr sz="1000" b="1">
                <a:solidFill>
                  <a:srgbClr val="0284C7"/>
                </a:solidFill>
                <a:latin typeface="Segoe UI"/>
              </a:rPr>
              <a:t>TASK 1: SALES PERFORMANCE  |  </a:t>
            </a:r>
            <a:r>
              <a:rPr sz="1600" b="1">
                <a:solidFill>
                  <a:srgbClr val="0F172A"/>
                </a:solidFill>
                <a:latin typeface="Segoe UI"/>
              </a:rPr>
              <a:t>Task 1: Product Category Performance &amp; Margin Traps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65760"/>
            <a:ext cx="73152" cy="6858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5212080" cy="5166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bIns="182880" rtlCol="0" anchor="ctr"/>
          <a:lstStyle/>
          <a:p>
            <a:pPr algn="ctr">
              <a:spcAft>
                <a:spcPts val="800"/>
              </a:spcAft>
            </a:pPr>
            <a:r>
              <a:rPr sz="1200" b="1" dirty="0">
                <a:solidFill>
                  <a:srgbClr val="0284C7"/>
                </a:solidFill>
                <a:latin typeface="Segoe UI"/>
              </a:rPr>
              <a:t>[CATEGORY AUDIT] </a:t>
            </a:r>
            <a:endParaRPr lang="en-US" sz="1200" b="1" dirty="0">
              <a:solidFill>
                <a:srgbClr val="0284C7"/>
              </a:solidFill>
              <a:latin typeface="Segoe UI"/>
            </a:endParaRPr>
          </a:p>
          <a:p>
            <a:pPr algn="ctr">
              <a:spcAft>
                <a:spcPts val="800"/>
              </a:spcAft>
            </a:pPr>
            <a:r>
              <a:rPr b="1" dirty="0">
                <a:solidFill>
                  <a:srgbClr val="0F172A"/>
                </a:solidFill>
                <a:latin typeface="Segoe UI"/>
              </a:rPr>
              <a:t>Category Profitability Breakdown</a:t>
            </a:r>
          </a:p>
          <a:p>
            <a:pPr>
              <a:spcAft>
                <a:spcPts val="600"/>
              </a:spcAft>
            </a:pPr>
            <a:r>
              <a:rPr sz="1400" b="1" dirty="0">
                <a:solidFill>
                  <a:srgbClr val="0F172A"/>
                </a:solidFill>
                <a:latin typeface="Segoe UI"/>
              </a:rPr>
              <a:t>• Technology (Star Performer): </a:t>
            </a:r>
            <a:r>
              <a:rPr sz="1200" dirty="0">
                <a:solidFill>
                  <a:srgbClr val="475569"/>
                </a:solidFill>
                <a:latin typeface="Segoe UI"/>
              </a:rPr>
              <a:t>Generated $836,154 in revenue with $145,455 profit. High operating margin of 17.40%, led by enterprise equipment.</a:t>
            </a:r>
          </a:p>
          <a:p>
            <a:pPr>
              <a:spcAft>
                <a:spcPts val="600"/>
              </a:spcAft>
            </a:pPr>
            <a:r>
              <a:rPr sz="1400" b="1" dirty="0">
                <a:solidFill>
                  <a:srgbClr val="0F172A"/>
                </a:solidFill>
                <a:latin typeface="Segoe UI"/>
              </a:rPr>
              <a:t>• Office Supplies (Core Cashflow): </a:t>
            </a:r>
            <a:r>
              <a:rPr sz="1200" dirty="0">
                <a:solidFill>
                  <a:srgbClr val="475569"/>
                </a:solidFill>
                <a:latin typeface="Segoe UI"/>
              </a:rPr>
              <a:t>Generated $719,047 in revenue with $122,491 profit. Delivered consistent 17.03% margin across high transaction volume.</a:t>
            </a:r>
          </a:p>
          <a:p>
            <a:pPr>
              <a:spcAft>
                <a:spcPts val="600"/>
              </a:spcAft>
            </a:pPr>
            <a:r>
              <a:rPr sz="1400" b="1" dirty="0">
                <a:solidFill>
                  <a:srgbClr val="0F172A"/>
                </a:solidFill>
                <a:latin typeface="Segoe UI"/>
              </a:rPr>
              <a:t>• Furniture (Margin Trap!): </a:t>
            </a:r>
            <a:r>
              <a:rPr sz="1200" dirty="0">
                <a:solidFill>
                  <a:srgbClr val="475569"/>
                </a:solidFill>
                <a:latin typeface="Segoe UI"/>
              </a:rPr>
              <a:t>Generated $741,999 in revenue (32.3% of total sales) but contributed ONLY $18,451 in net profit—yielding a dismal 2.49% margin.</a:t>
            </a:r>
          </a:p>
          <a:p>
            <a:pPr>
              <a:spcAft>
                <a:spcPts val="600"/>
              </a:spcAft>
            </a:pPr>
            <a:r>
              <a:rPr sz="1400" b="1" dirty="0">
                <a:solidFill>
                  <a:srgbClr val="0F172A"/>
                </a:solidFill>
                <a:latin typeface="Segoe UI"/>
              </a:rPr>
              <a:t>• Diagnostic Takeaway: </a:t>
            </a:r>
            <a:r>
              <a:rPr sz="1200" dirty="0">
                <a:solidFill>
                  <a:srgbClr val="475569"/>
                </a:solidFill>
                <a:latin typeface="Segoe UI"/>
              </a:rPr>
              <a:t>Furniture consumes substantial shipping freight and warehouse space while producing negligible net operating returns.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34440"/>
            <a:ext cx="5242255" cy="5166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ategory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2219274"/>
            <a:ext cx="4913071" cy="290408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82512" y="6035040"/>
            <a:ext cx="4913071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i="1">
                <a:solidFill>
                  <a:srgbClr val="475569"/>
                </a:solidFill>
                <a:latin typeface="Segoe UI"/>
              </a:rPr>
              <a:t>Figure 3: Category Comparison: Sales Volume vs Net Profit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09728" bIns="91440" rtlCol="0" anchor="ctr"/>
          <a:lstStyle/>
          <a:p>
            <a:pPr algn="ctr"/>
            <a:r>
              <a:rPr sz="1000" b="1">
                <a:solidFill>
                  <a:srgbClr val="0284C7"/>
                </a:solidFill>
                <a:latin typeface="Segoe UI"/>
              </a:rPr>
              <a:t>TASK 1: SALES PERFORMANCE  |  </a:t>
            </a:r>
            <a:r>
              <a:rPr sz="1600" b="1">
                <a:solidFill>
                  <a:srgbClr val="0F172A"/>
                </a:solidFill>
                <a:latin typeface="Segoe UI"/>
              </a:rPr>
              <a:t>Task 1: Sub-Category Profitability &amp; Chronic SKU Deficits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65760"/>
            <a:ext cx="73152" cy="6858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5212080" cy="5166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bIns="182880" rtlCol="0" anchor="ctr"/>
          <a:lstStyle/>
          <a:p>
            <a:pPr algn="ctr">
              <a:spcAft>
                <a:spcPts val="800"/>
              </a:spcAft>
            </a:pPr>
            <a:r>
              <a:rPr sz="1200" b="1" dirty="0">
                <a:solidFill>
                  <a:srgbClr val="DC2626"/>
                </a:solidFill>
                <a:latin typeface="Segoe UI"/>
              </a:rPr>
              <a:t>[SKU PROFITABILITY] </a:t>
            </a:r>
            <a:endParaRPr lang="en-US" sz="1200" b="1" dirty="0">
              <a:solidFill>
                <a:srgbClr val="DC2626"/>
              </a:solidFill>
              <a:latin typeface="Segoe UI"/>
            </a:endParaRPr>
          </a:p>
          <a:p>
            <a:pPr algn="ctr">
              <a:spcAft>
                <a:spcPts val="800"/>
              </a:spcAft>
            </a:pPr>
            <a:r>
              <a:rPr b="1" dirty="0">
                <a:solidFill>
                  <a:srgbClr val="0F172A"/>
                </a:solidFill>
                <a:latin typeface="Segoe UI"/>
              </a:rPr>
              <a:t>Product Profit Drivers vs Drainers</a:t>
            </a:r>
          </a:p>
          <a:p>
            <a:pPr>
              <a:spcAft>
                <a:spcPts val="600"/>
              </a:spcAft>
            </a:pPr>
            <a:r>
              <a:rPr sz="1400" b="1" dirty="0">
                <a:solidFill>
                  <a:srgbClr val="0F172A"/>
                </a:solidFill>
                <a:latin typeface="Segoe UI"/>
              </a:rPr>
              <a:t>• Top Profit Contributors: </a:t>
            </a:r>
            <a:r>
              <a:rPr sz="1200" dirty="0">
                <a:solidFill>
                  <a:srgbClr val="475569"/>
                </a:solidFill>
                <a:latin typeface="Segoe UI"/>
              </a:rPr>
              <a:t>Copiers (+ $55,618 profit, 36.7% margin), Phones (+ $44,516 profit), and Accessories (+ $41,937 profit) are prime financial pillars.</a:t>
            </a:r>
          </a:p>
          <a:p>
            <a:pPr>
              <a:spcAft>
                <a:spcPts val="600"/>
              </a:spcAft>
            </a:pPr>
            <a:r>
              <a:rPr sz="1400" b="1" dirty="0">
                <a:solidFill>
                  <a:srgbClr val="0F172A"/>
                </a:solidFill>
                <a:latin typeface="Segoe UI"/>
              </a:rPr>
              <a:t>• High-Margin Staples: </a:t>
            </a:r>
            <a:r>
              <a:rPr sz="1200" dirty="0">
                <a:solidFill>
                  <a:srgbClr val="475569"/>
                </a:solidFill>
                <a:latin typeface="Segoe UI"/>
              </a:rPr>
              <a:t>Paper (+ $34,054 profit) and Binders (+ $30,221 profit) deliver steady, resilient cash flow with minimal price sensitivity.</a:t>
            </a:r>
          </a:p>
          <a:p>
            <a:pPr>
              <a:spcAft>
                <a:spcPts val="600"/>
              </a:spcAft>
            </a:pPr>
            <a:r>
              <a:rPr sz="1400" b="1" dirty="0">
                <a:solidFill>
                  <a:srgbClr val="0F172A"/>
                </a:solidFill>
                <a:latin typeface="Segoe UI"/>
              </a:rPr>
              <a:t>• Tables (Catastrophic Loss): </a:t>
            </a:r>
            <a:r>
              <a:rPr sz="1200" dirty="0">
                <a:solidFill>
                  <a:srgbClr val="475569"/>
                </a:solidFill>
                <a:latin typeface="Segoe UI"/>
              </a:rPr>
              <a:t>Accumulated a severe net loss of -$17,725 despite generating over $206,000 in sales volume.</a:t>
            </a:r>
          </a:p>
          <a:p>
            <a:pPr>
              <a:spcAft>
                <a:spcPts val="600"/>
              </a:spcAft>
            </a:pPr>
            <a:r>
              <a:rPr sz="1400" b="1" dirty="0">
                <a:solidFill>
                  <a:srgbClr val="0F172A"/>
                </a:solidFill>
                <a:latin typeface="Segoe UI"/>
              </a:rPr>
              <a:t>• Bookcases &amp; Supplies: </a:t>
            </a:r>
            <a:r>
              <a:rPr sz="1200" dirty="0">
                <a:solidFill>
                  <a:srgbClr val="475569"/>
                </a:solidFill>
                <a:latin typeface="Segoe UI"/>
              </a:rPr>
              <a:t>Bookcases lost -$3,473 and general Supplies lost -$1,189, further depressing total enterprise earnings.</a:t>
            </a:r>
          </a:p>
          <a:p>
            <a:pPr>
              <a:spcAft>
                <a:spcPts val="600"/>
              </a:spcAft>
            </a:pPr>
            <a:r>
              <a:rPr sz="1400" b="1" dirty="0">
                <a:solidFill>
                  <a:srgbClr val="0F172A"/>
                </a:solidFill>
                <a:latin typeface="Segoe UI"/>
              </a:rPr>
              <a:t>• Actionable Remedy: </a:t>
            </a:r>
            <a:r>
              <a:rPr sz="1200" dirty="0">
                <a:solidFill>
                  <a:srgbClr val="475569"/>
                </a:solidFill>
                <a:latin typeface="Segoe UI"/>
              </a:rPr>
              <a:t>Repricing or discontinuing chronic loss-making Tables immediately restores over $17,000 to net operating profits.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34440"/>
            <a:ext cx="5242255" cy="5166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ubcategory_profit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2046063"/>
            <a:ext cx="4913071" cy="32505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82512" y="6035040"/>
            <a:ext cx="4913071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i="1">
                <a:solidFill>
                  <a:srgbClr val="475569"/>
                </a:solidFill>
                <a:latin typeface="Segoe UI"/>
              </a:rPr>
              <a:t>Figure 4: Net Profit and Loss Distribution Across Sub-Categories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09728" bIns="91440" rtlCol="0" anchor="ctr"/>
          <a:lstStyle/>
          <a:p>
            <a:pPr algn="ctr"/>
            <a:r>
              <a:rPr sz="1000" b="1">
                <a:solidFill>
                  <a:srgbClr val="0284C7"/>
                </a:solidFill>
                <a:latin typeface="Segoe UI"/>
              </a:rPr>
              <a:t>TASK 1: PRICING SENSITIVITY  |  </a:t>
            </a:r>
            <a:r>
              <a:rPr sz="1600" b="1">
                <a:solidFill>
                  <a:srgbClr val="0F172A"/>
                </a:solidFill>
                <a:latin typeface="Segoe UI"/>
              </a:rPr>
              <a:t>Task 1: The 20% Discount Cliff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65760"/>
            <a:ext cx="73152" cy="6858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5212080" cy="5166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bIns="182880" rtlCol="0" anchor="ctr"/>
          <a:lstStyle/>
          <a:p>
            <a:pPr algn="ctr">
              <a:spcAft>
                <a:spcPts val="800"/>
              </a:spcAft>
            </a:pPr>
            <a:r>
              <a:rPr sz="1200" b="1" dirty="0">
                <a:solidFill>
                  <a:srgbClr val="DC2626"/>
                </a:solidFill>
                <a:latin typeface="Segoe UI"/>
              </a:rPr>
              <a:t>[PRICING GOVERNANCE]</a:t>
            </a:r>
            <a:endParaRPr lang="en-US" sz="1200" b="1" dirty="0">
              <a:solidFill>
                <a:srgbClr val="DC2626"/>
              </a:solidFill>
              <a:latin typeface="Segoe UI"/>
            </a:endParaRPr>
          </a:p>
          <a:p>
            <a:pPr algn="ctr">
              <a:spcAft>
                <a:spcPts val="800"/>
              </a:spcAft>
            </a:pPr>
            <a:r>
              <a:rPr sz="1200" b="1" dirty="0">
                <a:solidFill>
                  <a:srgbClr val="DC2626"/>
                </a:solidFill>
                <a:latin typeface="Segoe UI"/>
              </a:rPr>
              <a:t> </a:t>
            </a:r>
            <a:r>
              <a:rPr b="1" dirty="0">
                <a:solidFill>
                  <a:srgbClr val="0F172A"/>
                </a:solidFill>
                <a:latin typeface="Segoe UI"/>
              </a:rPr>
              <a:t>Mathematical Margin Inversion</a:t>
            </a:r>
          </a:p>
          <a:p>
            <a:pPr>
              <a:spcAft>
                <a:spcPts val="600"/>
              </a:spcAft>
            </a:pPr>
            <a:r>
              <a:rPr sz="1400" b="1" dirty="0">
                <a:solidFill>
                  <a:srgbClr val="0F172A"/>
                </a:solidFill>
                <a:latin typeface="Segoe UI"/>
              </a:rPr>
              <a:t>• 0% to 10% Discount Band: </a:t>
            </a:r>
            <a:r>
              <a:rPr sz="1200" dirty="0">
                <a:solidFill>
                  <a:srgbClr val="475569"/>
                </a:solidFill>
                <a:latin typeface="Segoe UI"/>
              </a:rPr>
              <a:t>Maintains strong +28.5% net margin. Healthy unit profitability with steady, organic customer demand.</a:t>
            </a:r>
          </a:p>
          <a:p>
            <a:pPr>
              <a:spcAft>
                <a:spcPts val="600"/>
              </a:spcAft>
            </a:pPr>
            <a:r>
              <a:rPr sz="1400" b="1" dirty="0">
                <a:solidFill>
                  <a:srgbClr val="0F172A"/>
                </a:solidFill>
                <a:latin typeface="Segoe UI"/>
              </a:rPr>
              <a:t>• 10% to 20% Discount Band: </a:t>
            </a:r>
            <a:r>
              <a:rPr sz="1200" dirty="0">
                <a:solidFill>
                  <a:srgbClr val="475569"/>
                </a:solidFill>
                <a:latin typeface="Segoe UI"/>
              </a:rPr>
              <a:t>Yields +14.2% margin. Safe promotional band where transactional gross profit covers operational overhead.</a:t>
            </a:r>
          </a:p>
          <a:p>
            <a:pPr>
              <a:spcAft>
                <a:spcPts val="600"/>
              </a:spcAft>
            </a:pPr>
            <a:r>
              <a:rPr sz="1400" b="1" dirty="0">
                <a:solidFill>
                  <a:srgbClr val="0F172A"/>
                </a:solidFill>
                <a:latin typeface="Segoe UI"/>
              </a:rPr>
              <a:t>• The 20% Inversion Cliff: </a:t>
            </a:r>
            <a:r>
              <a:rPr sz="1200" dirty="0">
                <a:solidFill>
                  <a:srgbClr val="475569"/>
                </a:solidFill>
                <a:latin typeface="Segoe UI"/>
              </a:rPr>
              <a:t>At 20% to 30% discount, net margin turns negative (-5.4% loss). Promotional price breaks fail to cover base COGS.</a:t>
            </a:r>
          </a:p>
          <a:p>
            <a:pPr>
              <a:spcAft>
                <a:spcPts val="600"/>
              </a:spcAft>
            </a:pPr>
            <a:r>
              <a:rPr sz="1400" b="1" dirty="0">
                <a:solidFill>
                  <a:srgbClr val="0F172A"/>
                </a:solidFill>
                <a:latin typeface="Segoe UI"/>
              </a:rPr>
              <a:t>• Clearance Markdowns (&gt; 50%): </a:t>
            </a:r>
            <a:r>
              <a:rPr sz="1200" dirty="0">
                <a:solidFill>
                  <a:srgbClr val="475569"/>
                </a:solidFill>
                <a:latin typeface="Segoe UI"/>
              </a:rPr>
              <a:t>Plummets to -85.2% cash loss. The company is actively subsidizing consumer orders.</a:t>
            </a:r>
          </a:p>
          <a:p>
            <a:pPr>
              <a:spcAft>
                <a:spcPts val="600"/>
              </a:spcAft>
            </a:pPr>
            <a:r>
              <a:rPr sz="1400" b="1" dirty="0">
                <a:solidFill>
                  <a:srgbClr val="0F172A"/>
                </a:solidFill>
                <a:latin typeface="Segoe UI"/>
              </a:rPr>
              <a:t>• Core Policy Directive: </a:t>
            </a:r>
            <a:r>
              <a:rPr sz="1200" dirty="0">
                <a:solidFill>
                  <a:srgbClr val="475569"/>
                </a:solidFill>
                <a:latin typeface="Segoe UI"/>
              </a:rPr>
              <a:t>Establish a strict 20% ceiling on sales discounts across all standard catalog merchandise.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34440"/>
            <a:ext cx="5242255" cy="5166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discount_vs_pro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2217312"/>
            <a:ext cx="4913071" cy="290800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82512" y="6035040"/>
            <a:ext cx="4913071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i="1">
                <a:solidFill>
                  <a:srgbClr val="475569"/>
                </a:solidFill>
                <a:latin typeface="Segoe UI"/>
              </a:rPr>
              <a:t>Figure 5: Correlation Between Applied Discount and Net Profit Margin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09728" bIns="91440" rtlCol="0" anchor="ctr"/>
          <a:lstStyle/>
          <a:p>
            <a:pPr algn="ctr"/>
            <a:r>
              <a:rPr sz="1000" b="1">
                <a:solidFill>
                  <a:srgbClr val="0284C7"/>
                </a:solidFill>
                <a:latin typeface="Segoe UI"/>
              </a:rPr>
              <a:t>TASK 2: CUSTOMER SEGMENTATION  |  </a:t>
            </a:r>
            <a:r>
              <a:rPr sz="1600" b="1">
                <a:solidFill>
                  <a:srgbClr val="0F172A"/>
                </a:solidFill>
                <a:latin typeface="Segoe UI"/>
              </a:rPr>
              <a:t>Task 2: K-Means Clustering Methodology &amp; 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65760"/>
            <a:ext cx="73152" cy="6858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5212080" cy="5166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bIns="182880" rtlCol="0" anchor="ctr"/>
          <a:lstStyle/>
          <a:p>
            <a:pPr algn="ctr">
              <a:spcAft>
                <a:spcPts val="800"/>
              </a:spcAft>
            </a:pPr>
            <a:r>
              <a:rPr sz="1200" b="1" dirty="0">
                <a:solidFill>
                  <a:srgbClr val="0284C7"/>
                </a:solidFill>
                <a:latin typeface="Segoe UI"/>
              </a:rPr>
              <a:t>[MODEL VALIDATION] </a:t>
            </a:r>
            <a:endParaRPr lang="en-US" sz="1200" b="1" dirty="0">
              <a:solidFill>
                <a:srgbClr val="0284C7"/>
              </a:solidFill>
              <a:latin typeface="Segoe UI"/>
            </a:endParaRPr>
          </a:p>
          <a:p>
            <a:pPr algn="ctr">
              <a:spcAft>
                <a:spcPts val="800"/>
              </a:spcAft>
            </a:pPr>
            <a:r>
              <a:rPr b="1" dirty="0">
                <a:solidFill>
                  <a:srgbClr val="0F172A"/>
                </a:solidFill>
                <a:latin typeface="Segoe UI"/>
              </a:rPr>
              <a:t>Machine Learning Pipeline</a:t>
            </a:r>
          </a:p>
          <a:p>
            <a:pPr>
              <a:spcAft>
                <a:spcPts val="600"/>
              </a:spcAft>
            </a:pPr>
            <a:r>
              <a:rPr sz="1400" b="1" dirty="0">
                <a:solidFill>
                  <a:srgbClr val="0F172A"/>
                </a:solidFill>
                <a:latin typeface="Segoe UI"/>
              </a:rPr>
              <a:t>• Customer Dataset: </a:t>
            </a:r>
            <a:r>
              <a:rPr sz="1200" dirty="0">
                <a:solidFill>
                  <a:srgbClr val="475569"/>
                </a:solidFill>
                <a:latin typeface="Segoe UI"/>
              </a:rPr>
              <a:t>200 customer profiles containing Age, Annual Income (k$), and Spending Score (1-100). Zero missing values.</a:t>
            </a:r>
          </a:p>
          <a:p>
            <a:pPr>
              <a:spcAft>
                <a:spcPts val="600"/>
              </a:spcAft>
            </a:pPr>
            <a:r>
              <a:rPr sz="1400" b="1" dirty="0">
                <a:solidFill>
                  <a:srgbClr val="0F172A"/>
                </a:solidFill>
                <a:latin typeface="Segoe UI"/>
              </a:rPr>
              <a:t>• </a:t>
            </a:r>
            <a:r>
              <a:rPr sz="1400" b="1" dirty="0" err="1">
                <a:solidFill>
                  <a:srgbClr val="0F172A"/>
                </a:solidFill>
                <a:latin typeface="Segoe UI"/>
              </a:rPr>
              <a:t>StandardScaler</a:t>
            </a:r>
            <a:r>
              <a:rPr sz="1400" b="1" dirty="0">
                <a:solidFill>
                  <a:srgbClr val="0F172A"/>
                </a:solidFill>
                <a:latin typeface="Segoe UI"/>
              </a:rPr>
              <a:t> Scaling: </a:t>
            </a:r>
            <a:r>
              <a:rPr sz="1200" dirty="0">
                <a:solidFill>
                  <a:srgbClr val="475569"/>
                </a:solidFill>
                <a:latin typeface="Segoe UI"/>
              </a:rPr>
              <a:t>Z-score normalization z = (x - μ) / σ ensures Annual Income ($15k-$137k) does not overwhelm Age (18-70) in Euclidean distance calculations.</a:t>
            </a:r>
          </a:p>
          <a:p>
            <a:pPr>
              <a:spcAft>
                <a:spcPts val="600"/>
              </a:spcAft>
            </a:pPr>
            <a:r>
              <a:rPr sz="1400" b="1" dirty="0">
                <a:solidFill>
                  <a:srgbClr val="0F172A"/>
                </a:solidFill>
                <a:latin typeface="Segoe UI"/>
              </a:rPr>
              <a:t>• Elbow Method (WCSS): </a:t>
            </a:r>
            <a:r>
              <a:rPr sz="1200" dirty="0">
                <a:solidFill>
                  <a:srgbClr val="475569"/>
                </a:solidFill>
                <a:latin typeface="Segoe UI"/>
              </a:rPr>
              <a:t>Evaluated within-cluster sum of squares across k=1 to 10. Clear inflection observed at k=5 to 6.</a:t>
            </a:r>
          </a:p>
          <a:p>
            <a:pPr>
              <a:spcAft>
                <a:spcPts val="600"/>
              </a:spcAft>
            </a:pPr>
            <a:r>
              <a:rPr sz="1400" b="1" dirty="0">
                <a:solidFill>
                  <a:srgbClr val="0F172A"/>
                </a:solidFill>
                <a:latin typeface="Segoe UI"/>
              </a:rPr>
              <a:t>• Silhouette Score (0.45): </a:t>
            </a:r>
            <a:r>
              <a:rPr sz="1200" dirty="0">
                <a:solidFill>
                  <a:srgbClr val="475569"/>
                </a:solidFill>
                <a:latin typeface="Segoe UI"/>
              </a:rPr>
              <a:t>Evaluates intra-cluster cohesion vs nearest-cluster separation. Validates that k=6 provides robust cluster boundaries.</a:t>
            </a:r>
          </a:p>
          <a:p>
            <a:pPr>
              <a:spcAft>
                <a:spcPts val="600"/>
              </a:spcAft>
            </a:pPr>
            <a:r>
              <a:rPr sz="1400" b="1" dirty="0">
                <a:solidFill>
                  <a:srgbClr val="0F172A"/>
                </a:solidFill>
                <a:latin typeface="Segoe UI"/>
              </a:rPr>
              <a:t>• Why k=6 Beats k=5: </a:t>
            </a:r>
            <a:r>
              <a:rPr sz="1200" dirty="0">
                <a:solidFill>
                  <a:srgbClr val="475569"/>
                </a:solidFill>
                <a:latin typeface="Segoe UI"/>
              </a:rPr>
              <a:t>k=6 bifurcates the huge moderate group into Young Moderate Spenders vs Mature Moderate Spenders, enabling targeted digital outreach.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34440"/>
            <a:ext cx="5242255" cy="5166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elbow_meth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2149072"/>
            <a:ext cx="4913071" cy="304448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82512" y="6035040"/>
            <a:ext cx="4913071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i="1">
                <a:solidFill>
                  <a:srgbClr val="475569"/>
                </a:solidFill>
                <a:latin typeface="Segoe UI"/>
              </a:rPr>
              <a:t>Figure 6: WCSS Elbow Curve for Optimal Cluster Selection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496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09728" bIns="91440" rtlCol="0" anchor="ctr"/>
          <a:lstStyle/>
          <a:p>
            <a:pPr algn="ctr"/>
            <a:r>
              <a:rPr sz="1100" b="1" dirty="0">
                <a:solidFill>
                  <a:srgbClr val="0284C7"/>
                </a:solidFill>
                <a:latin typeface="Segoe UI"/>
              </a:rPr>
              <a:t>TASK 2: CUSTOMER SEGMENTATION  |  </a:t>
            </a:r>
            <a:r>
              <a:rPr sz="2000" b="1" dirty="0">
                <a:solidFill>
                  <a:srgbClr val="0F172A"/>
                </a:solidFill>
                <a:latin typeface="Segoe UI"/>
              </a:rPr>
              <a:t>Task 2: Customer Segments in Multi-Dimensional Space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65760"/>
            <a:ext cx="73152" cy="6858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5212080" cy="5166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bIns="182880" rtlCol="0" anchor="ctr"/>
          <a:lstStyle/>
          <a:p>
            <a:pPr algn="ctr">
              <a:spcAft>
                <a:spcPts val="800"/>
              </a:spcAft>
            </a:pPr>
            <a:r>
              <a:rPr sz="1200" b="1" dirty="0">
                <a:solidFill>
                  <a:srgbClr val="0D9488"/>
                </a:solidFill>
                <a:latin typeface="Segoe UI"/>
              </a:rPr>
              <a:t>[CLUSTER MAP] </a:t>
            </a:r>
            <a:endParaRPr lang="en-US" sz="1200" b="1" dirty="0">
              <a:solidFill>
                <a:srgbClr val="0D9488"/>
              </a:solidFill>
              <a:latin typeface="Segoe UI"/>
            </a:endParaRPr>
          </a:p>
          <a:p>
            <a:pPr algn="ctr">
              <a:spcAft>
                <a:spcPts val="800"/>
              </a:spcAft>
            </a:pPr>
            <a:r>
              <a:rPr b="1" dirty="0">
                <a:solidFill>
                  <a:srgbClr val="0F172A"/>
                </a:solidFill>
                <a:latin typeface="Segoe UI"/>
              </a:rPr>
              <a:t>The 6 Customer Clusters</a:t>
            </a:r>
          </a:p>
          <a:p>
            <a:pPr>
              <a:spcAft>
                <a:spcPts val="600"/>
              </a:spcAft>
            </a:pPr>
            <a:r>
              <a:rPr sz="1400" b="1" dirty="0">
                <a:solidFill>
                  <a:srgbClr val="0F172A"/>
                </a:solidFill>
                <a:latin typeface="Segoe UI"/>
              </a:rPr>
              <a:t>• Cluster 1: VIP Luxury (N=39): </a:t>
            </a:r>
            <a:r>
              <a:rPr sz="1200" dirty="0">
                <a:solidFill>
                  <a:srgbClr val="475569"/>
                </a:solidFill>
                <a:latin typeface="Segoe UI"/>
              </a:rPr>
              <a:t>High Income ($86.5k), High Spending (82.1), Mean Age: 32.7. Top prime targets for luxury and premium lines.</a:t>
            </a:r>
          </a:p>
          <a:p>
            <a:pPr>
              <a:spcAft>
                <a:spcPts val="600"/>
              </a:spcAft>
            </a:pPr>
            <a:r>
              <a:rPr sz="1400" b="1" dirty="0">
                <a:solidFill>
                  <a:srgbClr val="0F172A"/>
                </a:solidFill>
                <a:latin typeface="Segoe UI"/>
              </a:rPr>
              <a:t>• Cluster 4: High-Income Savers (N=34): </a:t>
            </a:r>
            <a:r>
              <a:rPr sz="1200" dirty="0">
                <a:solidFill>
                  <a:srgbClr val="475569"/>
                </a:solidFill>
                <a:latin typeface="Segoe UI"/>
              </a:rPr>
              <a:t>High Income ($90.1k), Low Spending (17.9), Mean Age: 44.0. High purchasing power with conservative habits.</a:t>
            </a:r>
          </a:p>
          <a:p>
            <a:pPr>
              <a:spcAft>
                <a:spcPts val="600"/>
              </a:spcAft>
            </a:pPr>
            <a:r>
              <a:rPr sz="1400" b="1" dirty="0">
                <a:solidFill>
                  <a:srgbClr val="0F172A"/>
                </a:solidFill>
                <a:latin typeface="Segoe UI"/>
              </a:rPr>
              <a:t>• Cluster 2: Trend-Driven Youth (N=22): </a:t>
            </a:r>
            <a:r>
              <a:rPr sz="1200" dirty="0">
                <a:solidFill>
                  <a:srgbClr val="475569"/>
                </a:solidFill>
                <a:latin typeface="Segoe UI"/>
              </a:rPr>
              <a:t>Low Income ($26.5k), High Spending (76.2), Mean Age: 25.6. Young shoppers active on mobile lifestyle channels.</a:t>
            </a:r>
          </a:p>
          <a:p>
            <a:pPr>
              <a:spcAft>
                <a:spcPts val="600"/>
              </a:spcAft>
            </a:pPr>
            <a:r>
              <a:rPr sz="1400" b="1" dirty="0">
                <a:solidFill>
                  <a:srgbClr val="0F172A"/>
                </a:solidFill>
                <a:latin typeface="Segoe UI"/>
              </a:rPr>
              <a:t>• Cluster 3: Young Professionals (N=38): </a:t>
            </a:r>
            <a:r>
              <a:rPr sz="1200" dirty="0">
                <a:solidFill>
                  <a:srgbClr val="475569"/>
                </a:solidFill>
                <a:latin typeface="Segoe UI"/>
              </a:rPr>
              <a:t>Moderate Income ($59.4k), Moderate Spending (44.5), Mean Age: 26.1. Digital natives balancing career budgets.</a:t>
            </a:r>
          </a:p>
          <a:p>
            <a:pPr>
              <a:spcAft>
                <a:spcPts val="600"/>
              </a:spcAft>
            </a:pPr>
            <a:r>
              <a:rPr sz="1400" b="1" dirty="0">
                <a:solidFill>
                  <a:srgbClr val="0F172A"/>
                </a:solidFill>
                <a:latin typeface="Segoe UI"/>
              </a:rPr>
              <a:t>• Cluster 0: Mature </a:t>
            </a:r>
            <a:r>
              <a:rPr sz="1400" b="1" dirty="0" err="1">
                <a:solidFill>
                  <a:srgbClr val="0F172A"/>
                </a:solidFill>
                <a:latin typeface="Segoe UI"/>
              </a:rPr>
              <a:t>Dependables</a:t>
            </a:r>
            <a:r>
              <a:rPr sz="1400" b="1" dirty="0">
                <a:solidFill>
                  <a:srgbClr val="0F172A"/>
                </a:solidFill>
                <a:latin typeface="Segoe UI"/>
              </a:rPr>
              <a:t> (N=45): </a:t>
            </a:r>
            <a:r>
              <a:rPr sz="1200" dirty="0">
                <a:solidFill>
                  <a:srgbClr val="475569"/>
                </a:solidFill>
                <a:latin typeface="Segoe UI"/>
              </a:rPr>
              <a:t>Moderate Income ($54.3k), Moderate Spending (49.1), Mean Age: 56.3. Loyal repeat in-store shoppers.</a:t>
            </a:r>
          </a:p>
          <a:p>
            <a:pPr>
              <a:spcAft>
                <a:spcPts val="600"/>
              </a:spcAft>
            </a:pPr>
            <a:r>
              <a:rPr sz="1400" b="1" dirty="0">
                <a:solidFill>
                  <a:srgbClr val="0F172A"/>
                </a:solidFill>
                <a:latin typeface="Segoe UI"/>
              </a:rPr>
              <a:t>• Cluster 5: Budget-Constrained (N=22): </a:t>
            </a:r>
            <a:r>
              <a:rPr sz="1200" dirty="0">
                <a:solidFill>
                  <a:srgbClr val="475569"/>
                </a:solidFill>
                <a:latin typeface="Segoe UI"/>
              </a:rPr>
              <a:t>Low Income ($26.3k), Low Spending (19.4), Mean Age: 45.5. Value-driven essential clearance shoppers.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34440"/>
            <a:ext cx="5242255" cy="5166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ustomer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1942797"/>
            <a:ext cx="4913071" cy="34570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82512" y="6035040"/>
            <a:ext cx="4913071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i="1">
                <a:solidFill>
                  <a:srgbClr val="475569"/>
                </a:solidFill>
                <a:latin typeface="Segoe UI"/>
              </a:rPr>
              <a:t>Figure 7: 2D Projection of Identified Customer Clusters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09728" bIns="91440" rtlCol="0" anchor="ctr"/>
          <a:lstStyle/>
          <a:p>
            <a:pPr algn="ctr"/>
            <a:r>
              <a:rPr sz="1200" b="1" dirty="0">
                <a:solidFill>
                  <a:srgbClr val="0284C7"/>
                </a:solidFill>
                <a:latin typeface="Segoe UI"/>
              </a:rPr>
              <a:t>TASK 2: TARGETING STRATEGIES  |  </a:t>
            </a:r>
            <a:r>
              <a:rPr sz="2400" b="1" dirty="0">
                <a:solidFill>
                  <a:srgbClr val="0F172A"/>
                </a:solidFill>
                <a:latin typeface="Segoe UI"/>
              </a:rPr>
              <a:t>Task 2: Demographic Profiles &amp; Marketing Playbooks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65760"/>
            <a:ext cx="73152" cy="6858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5212080" cy="5166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bIns="182880" rtlCol="0" anchor="ctr"/>
          <a:lstStyle/>
          <a:p>
            <a:pPr algn="ctr">
              <a:spcAft>
                <a:spcPts val="800"/>
              </a:spcAft>
            </a:pPr>
            <a:r>
              <a:rPr sz="1200" b="1" dirty="0">
                <a:solidFill>
                  <a:srgbClr val="0284C7"/>
                </a:solidFill>
                <a:latin typeface="Segoe UI"/>
              </a:rPr>
              <a:t>[MARKETING PLAYBOOK] </a:t>
            </a:r>
            <a:endParaRPr lang="en-US" sz="1200" b="1" dirty="0">
              <a:solidFill>
                <a:srgbClr val="0284C7"/>
              </a:solidFill>
              <a:latin typeface="Segoe UI"/>
            </a:endParaRPr>
          </a:p>
          <a:p>
            <a:pPr algn="ctr">
              <a:spcAft>
                <a:spcPts val="800"/>
              </a:spcAft>
            </a:pPr>
            <a:r>
              <a:rPr b="1" dirty="0">
                <a:solidFill>
                  <a:srgbClr val="0F172A"/>
                </a:solidFill>
                <a:latin typeface="Segoe UI"/>
              </a:rPr>
              <a:t>Actionable Marketing Activation</a:t>
            </a:r>
          </a:p>
          <a:p>
            <a:pPr>
              <a:spcAft>
                <a:spcPts val="600"/>
              </a:spcAft>
            </a:pPr>
            <a:r>
              <a:rPr sz="1400" b="1" dirty="0">
                <a:solidFill>
                  <a:srgbClr val="0F172A"/>
                </a:solidFill>
                <a:latin typeface="Segoe UI"/>
              </a:rPr>
              <a:t>• VIP Concierge (Cluster 1): </a:t>
            </a:r>
            <a:r>
              <a:rPr sz="1200" dirty="0">
                <a:solidFill>
                  <a:srgbClr val="475569"/>
                </a:solidFill>
                <a:latin typeface="Segoe UI"/>
              </a:rPr>
              <a:t>Provide dedicated account management, exclusive preview drops, and zero markdown discounts.</a:t>
            </a:r>
          </a:p>
          <a:p>
            <a:pPr>
              <a:spcAft>
                <a:spcPts val="600"/>
              </a:spcAft>
            </a:pPr>
            <a:r>
              <a:rPr sz="1400" b="1" dirty="0">
                <a:solidFill>
                  <a:srgbClr val="0F172A"/>
                </a:solidFill>
                <a:latin typeface="Segoe UI"/>
              </a:rPr>
              <a:t>• High-Income Savers (Cluster 4): </a:t>
            </a:r>
            <a:r>
              <a:rPr sz="1200" dirty="0">
                <a:solidFill>
                  <a:srgbClr val="475569"/>
                </a:solidFill>
                <a:latin typeface="Segoe UI"/>
              </a:rPr>
              <a:t>Market premium durability, warranties, and high-ROI value propositions to overcome buying hesitation.</a:t>
            </a:r>
          </a:p>
          <a:p>
            <a:pPr>
              <a:spcAft>
                <a:spcPts val="600"/>
              </a:spcAft>
            </a:pPr>
            <a:r>
              <a:rPr sz="1400" b="1" dirty="0">
                <a:solidFill>
                  <a:srgbClr val="0F172A"/>
                </a:solidFill>
                <a:latin typeface="Segoe UI"/>
              </a:rPr>
              <a:t>• Digital Youth (Cluster 2): </a:t>
            </a:r>
            <a:r>
              <a:rPr sz="1200" dirty="0">
                <a:solidFill>
                  <a:srgbClr val="475569"/>
                </a:solidFill>
                <a:latin typeface="Segoe UI"/>
              </a:rPr>
              <a:t>Deploy mobile-first campaigns (Instagram/TikTok), micro-promotions, and Buy-Now-Pay-Later (BNPL) financing.</a:t>
            </a:r>
          </a:p>
          <a:p>
            <a:pPr>
              <a:spcAft>
                <a:spcPts val="600"/>
              </a:spcAft>
            </a:pPr>
            <a:r>
              <a:rPr sz="1400" b="1" dirty="0">
                <a:solidFill>
                  <a:srgbClr val="0F172A"/>
                </a:solidFill>
                <a:latin typeface="Segoe UI"/>
              </a:rPr>
              <a:t>• Young Professionals (Cluster 3): </a:t>
            </a:r>
            <a:r>
              <a:rPr sz="1200" dirty="0">
                <a:solidFill>
                  <a:srgbClr val="475569"/>
                </a:solidFill>
                <a:latin typeface="Segoe UI"/>
              </a:rPr>
              <a:t>Target career lifestyle upgrades, workplace tech, and digital productivity tools.</a:t>
            </a:r>
          </a:p>
          <a:p>
            <a:pPr>
              <a:spcAft>
                <a:spcPts val="600"/>
              </a:spcAft>
            </a:pPr>
            <a:r>
              <a:rPr sz="1400" b="1" dirty="0">
                <a:solidFill>
                  <a:srgbClr val="0F172A"/>
                </a:solidFill>
                <a:latin typeface="Segoe UI"/>
              </a:rPr>
              <a:t>• Mature </a:t>
            </a:r>
            <a:r>
              <a:rPr sz="1400" b="1" dirty="0" err="1">
                <a:solidFill>
                  <a:srgbClr val="0F172A"/>
                </a:solidFill>
                <a:latin typeface="Segoe UI"/>
              </a:rPr>
              <a:t>Dependables</a:t>
            </a:r>
            <a:r>
              <a:rPr sz="1400" b="1" dirty="0">
                <a:solidFill>
                  <a:srgbClr val="0F172A"/>
                </a:solidFill>
                <a:latin typeface="Segoe UI"/>
              </a:rPr>
              <a:t> (Cluster 0): </a:t>
            </a:r>
            <a:r>
              <a:rPr sz="1200" dirty="0">
                <a:solidFill>
                  <a:srgbClr val="475569"/>
                </a:solidFill>
                <a:latin typeface="Segoe UI"/>
              </a:rPr>
              <a:t>Reward loyalty with point-based rewards, direct mailers, and personalized customer support.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34440"/>
            <a:ext cx="5242255" cy="5166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luster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2209309"/>
            <a:ext cx="4913071" cy="292401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82512" y="6035040"/>
            <a:ext cx="4913071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i="1">
                <a:solidFill>
                  <a:srgbClr val="475569"/>
                </a:solidFill>
                <a:latin typeface="Segoe UI"/>
              </a:rPr>
              <a:t>Figure 8: Mean Demographic and Behavioral Profile Across Clusters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09728" bIns="91440" rtlCol="0" anchor="ctr"/>
          <a:lstStyle/>
          <a:p>
            <a:pPr algn="ctr"/>
            <a:r>
              <a:rPr sz="1200" b="1" dirty="0">
                <a:solidFill>
                  <a:srgbClr val="0284C7"/>
                </a:solidFill>
                <a:latin typeface="Segoe UI"/>
              </a:rPr>
              <a:t>STRATEGIC RECOMMENDATIONS  |  </a:t>
            </a:r>
            <a:r>
              <a:rPr sz="2400" b="1" dirty="0">
                <a:solidFill>
                  <a:srgbClr val="0F172A"/>
                </a:solidFill>
                <a:latin typeface="Segoe UI"/>
              </a:rPr>
              <a:t>Data-Driven Strategic Business Recommendations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65760"/>
            <a:ext cx="73152" cy="6858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3429000" cy="5166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bIns="182880" rtlCol="0" anchor="ctr"/>
          <a:lstStyle/>
          <a:p>
            <a:pPr algn="ctr">
              <a:spcAft>
                <a:spcPts val="800"/>
              </a:spcAft>
            </a:pPr>
            <a:r>
              <a:rPr sz="1200" b="1" dirty="0">
                <a:solidFill>
                  <a:srgbClr val="DC2626"/>
                </a:solidFill>
                <a:latin typeface="Segoe UI"/>
              </a:rPr>
              <a:t>[PRICING GOVERNANCE] </a:t>
            </a:r>
            <a:endParaRPr lang="en-US" sz="1200" b="1" dirty="0">
              <a:solidFill>
                <a:srgbClr val="DC2626"/>
              </a:solidFill>
              <a:latin typeface="Segoe UI"/>
            </a:endParaRPr>
          </a:p>
          <a:p>
            <a:pPr algn="ctr">
              <a:spcAft>
                <a:spcPts val="800"/>
              </a:spcAft>
            </a:pPr>
            <a:r>
              <a:rPr b="1" dirty="0">
                <a:solidFill>
                  <a:srgbClr val="0F172A"/>
                </a:solidFill>
                <a:latin typeface="Segoe UI"/>
              </a:rPr>
              <a:t>1. Enforce 20% Discount Ceiling</a:t>
            </a:r>
          </a:p>
          <a:p>
            <a:pPr>
              <a:spcAft>
                <a:spcPts val="600"/>
              </a:spcAft>
            </a:pPr>
            <a:r>
              <a:rPr sz="1400" b="1" dirty="0">
                <a:solidFill>
                  <a:srgbClr val="0F172A"/>
                </a:solidFill>
                <a:latin typeface="Segoe UI"/>
              </a:rPr>
              <a:t>• Policy Directive: </a:t>
            </a:r>
            <a:r>
              <a:rPr sz="1200" dirty="0">
                <a:solidFill>
                  <a:srgbClr val="475569"/>
                </a:solidFill>
                <a:latin typeface="Segoe UI"/>
              </a:rPr>
              <a:t>Mandate a hard 20% discount ceiling on all standard retail catalog merchandise.</a:t>
            </a:r>
          </a:p>
          <a:p>
            <a:pPr>
              <a:spcAft>
                <a:spcPts val="600"/>
              </a:spcAft>
            </a:pPr>
            <a:r>
              <a:rPr sz="1400" b="1" dirty="0">
                <a:solidFill>
                  <a:srgbClr val="0F172A"/>
                </a:solidFill>
                <a:latin typeface="Segoe UI"/>
              </a:rPr>
              <a:t>• Stop Cash Bleed: </a:t>
            </a:r>
            <a:r>
              <a:rPr sz="1200" dirty="0">
                <a:solidFill>
                  <a:srgbClr val="475569"/>
                </a:solidFill>
                <a:latin typeface="Segoe UI"/>
              </a:rPr>
              <a:t>Eliminate 30%+ clearance markdowns that result in negative unit economics.</a:t>
            </a:r>
          </a:p>
          <a:p>
            <a:pPr>
              <a:spcAft>
                <a:spcPts val="600"/>
              </a:spcAft>
            </a:pPr>
            <a:r>
              <a:rPr sz="1400" b="1" dirty="0">
                <a:solidFill>
                  <a:srgbClr val="0F172A"/>
                </a:solidFill>
                <a:latin typeface="Segoe UI"/>
              </a:rPr>
              <a:t>• Financial Impact: </a:t>
            </a:r>
            <a:r>
              <a:rPr sz="1200" dirty="0">
                <a:solidFill>
                  <a:srgbClr val="475569"/>
                </a:solidFill>
                <a:latin typeface="Segoe UI"/>
              </a:rPr>
              <a:t>Recovers 3% to 5% in net enterprise operating margins ($35k - $45k annually).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9976" y="1234440"/>
            <a:ext cx="3429000" cy="5166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bIns="182880" rtlCol="0" anchor="ctr"/>
          <a:lstStyle/>
          <a:p>
            <a:pPr algn="ctr">
              <a:spcAft>
                <a:spcPts val="800"/>
              </a:spcAft>
            </a:pPr>
            <a:r>
              <a:rPr sz="1200" b="1" dirty="0">
                <a:solidFill>
                  <a:srgbClr val="D97706"/>
                </a:solidFill>
                <a:latin typeface="Segoe UI"/>
              </a:rPr>
              <a:t>[INVENTORY OPTIMIZATION] </a:t>
            </a:r>
            <a:endParaRPr lang="en-US" sz="1200" b="1" dirty="0">
              <a:solidFill>
                <a:srgbClr val="D97706"/>
              </a:solidFill>
              <a:latin typeface="Segoe UI"/>
            </a:endParaRPr>
          </a:p>
          <a:p>
            <a:pPr algn="ctr">
              <a:spcAft>
                <a:spcPts val="800"/>
              </a:spcAft>
            </a:pPr>
            <a:r>
              <a:rPr b="1" dirty="0">
                <a:solidFill>
                  <a:srgbClr val="0F172A"/>
                </a:solidFill>
                <a:latin typeface="Segoe UI"/>
              </a:rPr>
              <a:t>2. Restructure Furniture Catalog</a:t>
            </a:r>
          </a:p>
          <a:p>
            <a:pPr>
              <a:spcAft>
                <a:spcPts val="600"/>
              </a:spcAft>
            </a:pPr>
            <a:r>
              <a:rPr sz="1400" b="1" dirty="0">
                <a:solidFill>
                  <a:srgbClr val="0F172A"/>
                </a:solidFill>
                <a:latin typeface="Segoe UI"/>
              </a:rPr>
              <a:t>• SKU Rationalization: </a:t>
            </a:r>
            <a:r>
              <a:rPr sz="1200" dirty="0">
                <a:solidFill>
                  <a:srgbClr val="475569"/>
                </a:solidFill>
                <a:latin typeface="Segoe UI"/>
              </a:rPr>
              <a:t>Discontinue chronically unprofitable individual Table models (-$17.7k loss).</a:t>
            </a:r>
          </a:p>
          <a:p>
            <a:pPr>
              <a:spcAft>
                <a:spcPts val="600"/>
              </a:spcAft>
            </a:pPr>
            <a:r>
              <a:rPr sz="1400" b="1" dirty="0">
                <a:solidFill>
                  <a:srgbClr val="0F172A"/>
                </a:solidFill>
                <a:latin typeface="Segoe UI"/>
              </a:rPr>
              <a:t>• Mandatory Bundling: </a:t>
            </a:r>
            <a:r>
              <a:rPr sz="1200" dirty="0">
                <a:solidFill>
                  <a:srgbClr val="475569"/>
                </a:solidFill>
                <a:latin typeface="Segoe UI"/>
              </a:rPr>
              <a:t>Bundle Tables with high-margin Chairs (+13.4% margin) to offset shipping freight.</a:t>
            </a:r>
          </a:p>
          <a:p>
            <a:pPr>
              <a:spcAft>
                <a:spcPts val="600"/>
              </a:spcAft>
            </a:pPr>
            <a:r>
              <a:rPr sz="1400" b="1" dirty="0">
                <a:solidFill>
                  <a:srgbClr val="0F172A"/>
                </a:solidFill>
                <a:latin typeface="Segoe UI"/>
              </a:rPr>
              <a:t>• Financial Impact: </a:t>
            </a:r>
            <a:r>
              <a:rPr sz="1200" dirty="0">
                <a:solidFill>
                  <a:srgbClr val="475569"/>
                </a:solidFill>
                <a:latin typeface="Segoe UI"/>
              </a:rPr>
              <a:t>Eliminates over $21,000 in annual operational merchandise leakage.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28432" y="1234440"/>
            <a:ext cx="3429000" cy="5166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bIns="182880" rtlCol="0" anchor="ctr"/>
          <a:lstStyle/>
          <a:p>
            <a:pPr algn="ctr">
              <a:spcAft>
                <a:spcPts val="800"/>
              </a:spcAft>
            </a:pPr>
            <a:r>
              <a:rPr sz="1200" b="1" dirty="0">
                <a:solidFill>
                  <a:srgbClr val="0D9488"/>
                </a:solidFill>
                <a:latin typeface="Segoe UI"/>
              </a:rPr>
              <a:t>[LTV OPTIMIZATION] </a:t>
            </a:r>
            <a:endParaRPr lang="en-US" sz="1200" b="1" dirty="0">
              <a:solidFill>
                <a:srgbClr val="0D9488"/>
              </a:solidFill>
              <a:latin typeface="Segoe UI"/>
            </a:endParaRPr>
          </a:p>
          <a:p>
            <a:pPr algn="ctr">
              <a:spcAft>
                <a:spcPts val="800"/>
              </a:spcAft>
            </a:pPr>
            <a:r>
              <a:rPr b="1" dirty="0">
                <a:solidFill>
                  <a:srgbClr val="0F172A"/>
                </a:solidFill>
                <a:latin typeface="Segoe UI"/>
              </a:rPr>
              <a:t>3. Targeted Persona Activation</a:t>
            </a:r>
          </a:p>
          <a:p>
            <a:pPr>
              <a:spcAft>
                <a:spcPts val="600"/>
              </a:spcAft>
            </a:pPr>
            <a:r>
              <a:rPr sz="1400" b="1" dirty="0">
                <a:solidFill>
                  <a:srgbClr val="0F172A"/>
                </a:solidFill>
                <a:latin typeface="Segoe UI"/>
              </a:rPr>
              <a:t>• VIP Retention: </a:t>
            </a:r>
            <a:r>
              <a:rPr sz="1200" dirty="0">
                <a:solidFill>
                  <a:srgbClr val="475569"/>
                </a:solidFill>
                <a:latin typeface="Segoe UI"/>
              </a:rPr>
              <a:t>White-glove concierge and early access catalog for Cluster 1 (82.1 spending score).</a:t>
            </a:r>
          </a:p>
          <a:p>
            <a:pPr>
              <a:spcAft>
                <a:spcPts val="600"/>
              </a:spcAft>
            </a:pPr>
            <a:r>
              <a:rPr sz="1400" b="1" dirty="0">
                <a:solidFill>
                  <a:srgbClr val="0F172A"/>
                </a:solidFill>
                <a:latin typeface="Segoe UI"/>
              </a:rPr>
              <a:t>• Youth Financing: </a:t>
            </a:r>
            <a:r>
              <a:rPr sz="1200" dirty="0">
                <a:solidFill>
                  <a:srgbClr val="475569"/>
                </a:solidFill>
                <a:latin typeface="Segoe UI"/>
              </a:rPr>
              <a:t>BNPL micro-promotions on digital channels for Cluster 2 (Trend Youth).</a:t>
            </a:r>
          </a:p>
          <a:p>
            <a:pPr>
              <a:spcAft>
                <a:spcPts val="600"/>
              </a:spcAft>
            </a:pPr>
            <a:r>
              <a:rPr sz="1400" b="1" dirty="0">
                <a:solidFill>
                  <a:srgbClr val="0F172A"/>
                </a:solidFill>
                <a:latin typeface="Segoe UI"/>
              </a:rPr>
              <a:t>• Financial Impact: </a:t>
            </a:r>
            <a:r>
              <a:rPr sz="1200" dirty="0">
                <a:solidFill>
                  <a:srgbClr val="475569"/>
                </a:solidFill>
                <a:latin typeface="Segoe UI"/>
              </a:rPr>
              <a:t>Lifts Customer Lifetime Value (LTV) by +18% while lowering customer acquisition cost.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836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09728" bIns="91440" rtlCol="0" anchor="ctr"/>
          <a:lstStyle/>
          <a:p>
            <a:pPr algn="ctr"/>
            <a:r>
              <a:rPr sz="1200" b="1" dirty="0">
                <a:solidFill>
                  <a:srgbClr val="0284C7"/>
                </a:solidFill>
                <a:latin typeface="Segoe UI"/>
              </a:rPr>
              <a:t>VIVA DEFENSE PREPARATION  |  </a:t>
            </a:r>
            <a:r>
              <a:rPr sz="2400" b="1" dirty="0">
                <a:solidFill>
                  <a:srgbClr val="0F172A"/>
                </a:solidFill>
                <a:latin typeface="Segoe UI"/>
              </a:rPr>
              <a:t>Conclusion &amp; Examination Viva Defense Portal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65760"/>
            <a:ext cx="73152" cy="6858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0728655" cy="5166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bIns="182880" rtlCol="0" anchor="ctr"/>
          <a:lstStyle/>
          <a:p>
            <a:pPr algn="ctr">
              <a:spcAft>
                <a:spcPts val="800"/>
              </a:spcAft>
            </a:pPr>
            <a:r>
              <a:rPr sz="1400" b="1" dirty="0">
                <a:solidFill>
                  <a:srgbClr val="0284C7"/>
                </a:solidFill>
                <a:latin typeface="Segoe UI"/>
              </a:rPr>
              <a:t>[EXECUTIVE SUMMARY] </a:t>
            </a:r>
            <a:endParaRPr lang="en-US" sz="1400" b="1" dirty="0">
              <a:solidFill>
                <a:srgbClr val="0284C7"/>
              </a:solidFill>
              <a:latin typeface="Segoe UI"/>
            </a:endParaRPr>
          </a:p>
          <a:p>
            <a:pPr algn="ctr">
              <a:spcAft>
                <a:spcPts val="800"/>
              </a:spcAft>
            </a:pPr>
            <a:r>
              <a:rPr sz="2000" b="1" dirty="0">
                <a:solidFill>
                  <a:srgbClr val="0F172A"/>
                </a:solidFill>
                <a:latin typeface="Segoe UI"/>
              </a:rPr>
              <a:t>Project Summary &amp; Findings</a:t>
            </a:r>
          </a:p>
          <a:p>
            <a:pPr>
              <a:spcAft>
                <a:spcPts val="600"/>
              </a:spcAft>
            </a:pPr>
            <a:r>
              <a:rPr sz="1600" b="1" dirty="0">
                <a:solidFill>
                  <a:srgbClr val="0F172A"/>
                </a:solidFill>
                <a:latin typeface="Segoe UI"/>
              </a:rPr>
              <a:t>• 1. Data Auditing &amp; Integrity: </a:t>
            </a:r>
            <a:r>
              <a:rPr sz="1400" dirty="0">
                <a:solidFill>
                  <a:srgbClr val="475569"/>
                </a:solidFill>
                <a:latin typeface="Segoe UI"/>
              </a:rPr>
              <a:t>Processed 9,994 records with 100% data quality, standardizing datetime attributes and financial KPIs.</a:t>
            </a:r>
          </a:p>
          <a:p>
            <a:pPr>
              <a:spcAft>
                <a:spcPts val="600"/>
              </a:spcAft>
            </a:pPr>
            <a:r>
              <a:rPr sz="1600" b="1" dirty="0">
                <a:solidFill>
                  <a:srgbClr val="0F172A"/>
                </a:solidFill>
                <a:latin typeface="Segoe UI"/>
              </a:rPr>
              <a:t>• 2. Topline Sales vs Net Profit: </a:t>
            </a:r>
            <a:r>
              <a:rPr sz="1400" dirty="0">
                <a:solidFill>
                  <a:srgbClr val="475569"/>
                </a:solidFill>
                <a:latin typeface="Segoe UI"/>
              </a:rPr>
              <a:t>Demonstrated that $2.30M in revenue masked severe profit deficits in Furniture (only 2.49% margin).</a:t>
            </a:r>
          </a:p>
          <a:p>
            <a:pPr>
              <a:spcAft>
                <a:spcPts val="600"/>
              </a:spcAft>
            </a:pPr>
            <a:r>
              <a:rPr sz="1600" b="1" dirty="0">
                <a:solidFill>
                  <a:srgbClr val="0F172A"/>
                </a:solidFill>
                <a:latin typeface="Segoe UI"/>
              </a:rPr>
              <a:t>• 3. The 20% Discount Cliff: </a:t>
            </a:r>
            <a:r>
              <a:rPr sz="1400" dirty="0">
                <a:solidFill>
                  <a:srgbClr val="475569"/>
                </a:solidFill>
                <a:latin typeface="Segoe UI"/>
              </a:rPr>
              <a:t>Empirically established the 20% discount threshold past which transactions become loss-making.</a:t>
            </a:r>
          </a:p>
          <a:p>
            <a:pPr>
              <a:spcAft>
                <a:spcPts val="600"/>
              </a:spcAft>
            </a:pPr>
            <a:r>
              <a:rPr sz="1600" b="1" dirty="0">
                <a:solidFill>
                  <a:srgbClr val="0F172A"/>
                </a:solidFill>
                <a:latin typeface="Segoe UI"/>
              </a:rPr>
              <a:t>• 4. Mathematical Segmentation: </a:t>
            </a:r>
            <a:r>
              <a:rPr sz="1400" dirty="0" err="1">
                <a:solidFill>
                  <a:srgbClr val="475569"/>
                </a:solidFill>
                <a:latin typeface="Segoe UI"/>
              </a:rPr>
              <a:t>StandardScaler</a:t>
            </a:r>
            <a:r>
              <a:rPr sz="1400" dirty="0">
                <a:solidFill>
                  <a:srgbClr val="475569"/>
                </a:solidFill>
                <a:latin typeface="Segoe UI"/>
              </a:rPr>
              <a:t> + K-Means++ successfully decomposed 200 customer profiles into 6 actionable behavioral personas.</a:t>
            </a:r>
          </a:p>
          <a:p>
            <a:pPr>
              <a:spcAft>
                <a:spcPts val="600"/>
              </a:spcAft>
            </a:pPr>
            <a:r>
              <a:rPr sz="1600" b="1" dirty="0">
                <a:solidFill>
                  <a:srgbClr val="0F172A"/>
                </a:solidFill>
                <a:latin typeface="Segoe UI"/>
              </a:rPr>
              <a:t>• 5. Measurable Financial ROI: </a:t>
            </a:r>
            <a:r>
              <a:rPr sz="1400" dirty="0">
                <a:solidFill>
                  <a:srgbClr val="475569"/>
                </a:solidFill>
                <a:latin typeface="Segoe UI"/>
              </a:rPr>
              <a:t>Strategic recommendations yield over $38,000 in annual profit recovery.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1665</Words>
  <Application>Microsoft Office PowerPoint</Application>
  <PresentationFormat>Widescreen</PresentationFormat>
  <Paragraphs>108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Segoe UI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prasoon pathak</cp:lastModifiedBy>
  <cp:revision>1</cp:revision>
  <dcterms:created xsi:type="dcterms:W3CDTF">2013-01-27T09:14:16Z</dcterms:created>
  <dcterms:modified xsi:type="dcterms:W3CDTF">2026-10-21T08:17:36Z</dcterms:modified>
  <cp:category/>
</cp:coreProperties>
</file>