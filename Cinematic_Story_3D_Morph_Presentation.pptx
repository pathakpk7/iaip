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oon pathak" userId="1271ff3b2874a207" providerId="LiveId" clId="{D9CF42C1-17F2-4BFE-86A0-9D54C8720362}"/>
    <pc:docChg chg="modSld">
      <pc:chgData name="prasoon pathak" userId="1271ff3b2874a207" providerId="LiveId" clId="{D9CF42C1-17F2-4BFE-86A0-9D54C8720362}" dt="2026-10-19T16:44:33.065" v="1" actId="1038"/>
      <pc:docMkLst>
        <pc:docMk/>
      </pc:docMkLst>
      <pc:sldChg chg="modSp mod">
        <pc:chgData name="prasoon pathak" userId="1271ff3b2874a207" providerId="LiveId" clId="{D9CF42C1-17F2-4BFE-86A0-9D54C8720362}" dt="2026-10-19T16:44:33.065" v="1" actId="1038"/>
        <pc:sldMkLst>
          <pc:docMk/>
          <pc:sldMk cId="0" sldId="256"/>
        </pc:sldMkLst>
        <pc:spChg chg="mod">
          <ac:chgData name="prasoon pathak" userId="1271ff3b2874a207" providerId="LiveId" clId="{D9CF42C1-17F2-4BFE-86A0-9D54C8720362}" dt="2026-10-19T16:44:33.065" v="1" actId="1038"/>
          <ac:spMkLst>
            <pc:docMk/>
            <pc:sldMk cId="0" sldId="256"/>
            <ac:spMk id="2" creationId="{00000000-0000-0000-0000-000000000000}"/>
          </ac:spMkLst>
        </pc:spChg>
        <pc:picChg chg="mod">
          <ac:chgData name="prasoon pathak" userId="1271ff3b2874a207" providerId="LiveId" clId="{D9CF42C1-17F2-4BFE-86A0-9D54C8720362}" dt="2026-10-19T16:44:12.299" v="0" actId="1076"/>
          <ac:picMkLst>
            <pc:docMk/>
            <pc:sldMk cId="0" sldId="256"/>
            <ac:picMk id="1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9832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765032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1_data_nex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284" y="160265"/>
            <a:ext cx="5486400" cy="5486400"/>
          </a:xfrm>
          <a:prstGeom prst="rect">
            <a:avLst/>
          </a:prstGeom>
        </p:spPr>
      </p:pic>
      <p:sp>
        <p:nvSpPr>
          <p:cNvPr id="16" name="!!HeroCard"/>
          <p:cNvSpPr txBox="1"/>
          <p:nvPr/>
        </p:nvSpPr>
        <p:spPr>
          <a:xfrm>
            <a:off x="731520" y="42976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F2FE"/>
                </a:solidFill>
                <a:latin typeface="Segoe UI"/>
              </a:rPr>
              <a:t>AKTU B.TECH CSE MINI PROJECT DEFENSE  •  SESSION 2026-27
</a:t>
            </a:r>
          </a:p>
          <a:p>
            <a:pPr algn="ctr">
              <a:spcBef>
                <a:spcPts val="800"/>
              </a:spcBef>
            </a:pPr>
            <a:r>
              <a:rPr sz="3200" b="1">
                <a:solidFill>
                  <a:srgbClr val="F8FAFC"/>
                </a:solidFill>
                <a:latin typeface="Segoe UI"/>
              </a:rPr>
              <a:t>THE $2.3M DATA ANALYTICS PARADOX
</a:t>
            </a:r>
            <a:r>
              <a:rPr sz="2000" b="1">
                <a:solidFill>
                  <a:srgbClr val="4FACFE"/>
                </a:solidFill>
                <a:latin typeface="Segoe UI"/>
              </a:rPr>
              <a:t>Sales Performance Analysis &amp; 3D Customer Segmentation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94A3B8"/>
                </a:solidFill>
                <a:latin typeface="Segoe UI"/>
              </a:rPr>
              <a:t>Candidate: Scholar / Student Team (Uni. Roll No: 2102840100xxx) | Department of CSE, United Institute of Technology (284)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1837898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1_data_nex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572000"/>
          </a:xfrm>
          <a:prstGeom prst="rect">
            <a:avLst/>
          </a:prstGeom>
        </p:spPr>
      </p:pic>
      <p:sp>
        <p:nvSpPr>
          <p:cNvPr id="16" name="!!HeroCard"/>
          <p:cNvSpPr/>
          <p:nvPr/>
        </p:nvSpPr>
        <p:spPr>
          <a:xfrm>
            <a:off x="5669280" y="1280160"/>
            <a:ext cx="579089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00F2FE"/>
                </a:solidFill>
                <a:latin typeface="Segoe UI"/>
              </a:rPr>
              <a:t>ACT I: THE TOPLINE ILLUSION
</a:t>
            </a:r>
            <a:r>
              <a:rPr sz="2000" b="1">
                <a:solidFill>
                  <a:srgbClr val="F8FAFC"/>
                </a:solidFill>
                <a:latin typeface="Segoe UI"/>
              </a:rPr>
              <a:t>Massive Scale Masks Operating Margin Leaks
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4A3B8"/>
                </a:solidFill>
                <a:latin typeface="Segoe UI"/>
              </a:rPr>
              <a:t>TOTAL GROSS SALES: </a:t>
            </a:r>
            <a:r>
              <a:rPr sz="1600" b="1">
                <a:solidFill>
                  <a:srgbClr val="00F2FE"/>
                </a:solidFill>
                <a:latin typeface="Segoe UI"/>
              </a:rPr>
              <a:t>$2.30M  </a:t>
            </a:r>
            <a:r>
              <a:rPr sz="1000">
                <a:solidFill>
                  <a:srgbClr val="94A3B8"/>
                </a:solidFill>
                <a:latin typeface="Segoe UI"/>
              </a:rPr>
              <a:t>(Exact: $2,297,201 | +20.4% YoY Growth)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4A3B8"/>
                </a:solidFill>
                <a:latin typeface="Segoe UI"/>
              </a:rPr>
              <a:t>TOTAL NET PROFIT: </a:t>
            </a:r>
            <a:r>
              <a:rPr sz="1600" b="1">
                <a:solidFill>
                  <a:srgbClr val="00F5A0"/>
                </a:solidFill>
                <a:latin typeface="Segoe UI"/>
              </a:rPr>
              <a:t>$286.4K  </a:t>
            </a:r>
            <a:r>
              <a:rPr sz="1000">
                <a:solidFill>
                  <a:srgbClr val="94A3B8"/>
                </a:solidFill>
                <a:latin typeface="Segoe UI"/>
              </a:rPr>
              <a:t>(Exact: $286,397 | West is #1 ($108.4K))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4A3B8"/>
                </a:solidFill>
                <a:latin typeface="Segoe UI"/>
              </a:rPr>
              <a:t>ENTERPRISE MARGIN: </a:t>
            </a:r>
            <a:r>
              <a:rPr sz="1600" b="1">
                <a:solidFill>
                  <a:srgbClr val="F5A623"/>
                </a:solidFill>
                <a:latin typeface="Segoe UI"/>
              </a:rPr>
              <a:t>12.47%  </a:t>
            </a:r>
            <a:r>
              <a:rPr sz="1000">
                <a:solidFill>
                  <a:srgbClr val="94A3B8"/>
                </a:solidFill>
                <a:latin typeface="Segoe UI"/>
              </a:rPr>
              <a:t>(Benchmark target was &gt; 15%)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94A3B8"/>
                </a:solidFill>
                <a:latin typeface="Segoe UI"/>
              </a:rPr>
              <a:t>AUDITED RECORDS: </a:t>
            </a:r>
            <a:r>
              <a:rPr sz="1600" b="1">
                <a:solidFill>
                  <a:srgbClr val="A855F7"/>
                </a:solidFill>
                <a:latin typeface="Segoe UI"/>
              </a:rPr>
              <a:t>9,994  </a:t>
            </a:r>
            <a:r>
              <a:rPr sz="1000">
                <a:solidFill>
                  <a:srgbClr val="94A3B8"/>
                </a:solidFill>
                <a:latin typeface="Segoe UI"/>
              </a:rPr>
              <a:t>(5,009 Unique Orders | 100% Data Quality)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0F2FE"/>
                </a:solidFill>
                <a:latin typeface="Segoe UI"/>
              </a:rPr>
              <a:t>➔ The Paradox: Business leaders celebrated record revenue, unaware that 32% of total inventory volume was generating near-zero net return.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2910763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2_categor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4754880"/>
          </a:xfrm>
          <a:prstGeom prst="rect">
            <a:avLst/>
          </a:prstGeom>
        </p:spPr>
      </p:pic>
      <p:sp>
        <p:nvSpPr>
          <p:cNvPr id="16" name="!!HeroCard"/>
          <p:cNvSpPr/>
          <p:nvPr/>
        </p:nvSpPr>
        <p:spPr>
          <a:xfrm>
            <a:off x="5943600" y="1280160"/>
            <a:ext cx="551657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FF3366"/>
                </a:solidFill>
                <a:latin typeface="Segoe UI"/>
              </a:rPr>
              <a:t>ACT II: THE CRIME SCENE
</a:t>
            </a:r>
            <a:r>
              <a:rPr sz="2000" b="1">
                <a:solidFill>
                  <a:srgbClr val="F8FAFC"/>
                </a:solidFill>
                <a:latin typeface="Segoe UI"/>
              </a:rPr>
              <a:t>The Furniture Margin Bleed (-$17.7k)
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F2FE"/>
                </a:solidFill>
                <a:latin typeface="Segoe UI"/>
              </a:rPr>
              <a:t>• TECHNOLOGY (Star)
</a:t>
            </a:r>
            <a:r>
              <a:rPr sz="1100" b="1">
                <a:solidFill>
                  <a:srgbClr val="F8FAFC"/>
                </a:solidFill>
                <a:latin typeface="Segoe UI"/>
              </a:rPr>
              <a:t>   $836K Sales | $145.5K Profit (17.40% Margin)
</a:t>
            </a:r>
            <a:r>
              <a:rPr sz="1050">
                <a:solidFill>
                  <a:srgbClr val="94A3B8"/>
                </a:solidFill>
                <a:latin typeface="Segoe UI"/>
              </a:rPr>
              <a:t>   Copiers (+$55.6k) and Phones (+$44.5k) are massive profit drivers.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F5A0"/>
                </a:solidFill>
                <a:latin typeface="Segoe UI"/>
              </a:rPr>
              <a:t>• OFFICE SUPPLIES (Core)
</a:t>
            </a:r>
            <a:r>
              <a:rPr sz="1100" b="1">
                <a:solidFill>
                  <a:srgbClr val="F8FAFC"/>
                </a:solidFill>
                <a:latin typeface="Segoe UI"/>
              </a:rPr>
              <a:t>   $719K Sales | $122.5K Profit (17.03% Margin)
</a:t>
            </a:r>
            <a:r>
              <a:rPr sz="1050">
                <a:solidFill>
                  <a:srgbClr val="94A3B8"/>
                </a:solidFill>
                <a:latin typeface="Segoe UI"/>
              </a:rPr>
              <a:t>   High recurring order velocity; Paper (+$34.0k) delivers solid profits.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3366"/>
                </a:solidFill>
                <a:latin typeface="Segoe UI"/>
              </a:rPr>
              <a:t>• FURNITURE (MARGIN TRAP)
</a:t>
            </a:r>
            <a:r>
              <a:rPr sz="1100" b="1">
                <a:solidFill>
                  <a:srgbClr val="F8FAFC"/>
                </a:solidFill>
                <a:latin typeface="Segoe UI"/>
              </a:rPr>
              <a:t>   $742K Sales | ONLY $18.4K Profit (2.49% Margin!)
</a:t>
            </a:r>
            <a:r>
              <a:rPr sz="1050">
                <a:solidFill>
                  <a:srgbClr val="94A3B8"/>
                </a:solidFill>
                <a:latin typeface="Segoe UI"/>
              </a:rPr>
              <a:t>   Severe inventory bleed: Tables lost -$17,725; Bookcases lost -$3,473!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3983629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3_discount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4754880"/>
          </a:xfrm>
          <a:prstGeom prst="rect">
            <a:avLst/>
          </a:prstGeom>
        </p:spPr>
      </p:pic>
      <p:sp>
        <p:nvSpPr>
          <p:cNvPr id="16" name="!!HeroCard"/>
          <p:cNvSpPr/>
          <p:nvPr/>
        </p:nvSpPr>
        <p:spPr>
          <a:xfrm>
            <a:off x="5943600" y="1280160"/>
            <a:ext cx="551657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FF3366"/>
                </a:solidFill>
                <a:latin typeface="Segoe UI"/>
              </a:rPr>
              <a:t>ACT II: THE ROOT CAUSE
</a:t>
            </a:r>
            <a:r>
              <a:rPr sz="2000" b="1">
                <a:solidFill>
                  <a:srgbClr val="F8FAFC"/>
                </a:solidFill>
                <a:latin typeface="Segoe UI"/>
              </a:rPr>
              <a:t>Mathematical Proof of the 20% Cliff
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F5A0"/>
                </a:solidFill>
                <a:latin typeface="Segoe UI"/>
              </a:rPr>
              <a:t>• 0% - 10% DISCOUNT  ➔  +28.5% Net Margin
</a:t>
            </a:r>
            <a:r>
              <a:rPr sz="1050">
                <a:solidFill>
                  <a:srgbClr val="94A3B8"/>
                </a:solidFill>
                <a:latin typeface="Segoe UI"/>
              </a:rPr>
              <a:t>   Optimal profit zone. Elastic demand drives clean unit volume.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F2FE"/>
                </a:solidFill>
                <a:latin typeface="Segoe UI"/>
              </a:rPr>
              <a:t>• 10% - 20% DISCOUNT  ➔  +14.2% Net Margin
</a:t>
            </a:r>
            <a:r>
              <a:rPr sz="1050">
                <a:solidFill>
                  <a:srgbClr val="94A3B8"/>
                </a:solidFill>
                <a:latin typeface="Segoe UI"/>
              </a:rPr>
              <a:t>   Safe promotional threshold. Compresses margin but remains healthy.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3366"/>
                </a:solidFill>
                <a:latin typeface="Segoe UI"/>
              </a:rPr>
              <a:t>• 20% - 30% DISCOUNT  ➔  -5.4% LOSS (Break-Even Broken)
</a:t>
            </a:r>
            <a:r>
              <a:rPr sz="1050">
                <a:solidFill>
                  <a:srgbClr val="94A3B8"/>
                </a:solidFill>
                <a:latin typeface="Segoe UI"/>
              </a:rPr>
              <a:t>   The Inversion Point: Transaction costs wipe out all gross profit.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F3366"/>
                </a:solidFill>
                <a:latin typeface="Segoe UI"/>
              </a:rPr>
              <a:t>• &gt; 50% CLEARANCE  ➔  -85.2% CATASTROPHIC LOSS
</a:t>
            </a:r>
            <a:r>
              <a:rPr sz="1050">
                <a:solidFill>
                  <a:srgbClr val="94A3B8"/>
                </a:solidFill>
                <a:latin typeface="Segoe UI"/>
              </a:rPr>
              <a:t>   Enterprise subsidizes customer orders; burning cash to buy revenue.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A623"/>
                </a:solidFill>
                <a:latin typeface="Segoe UI"/>
              </a:rPr>
              <a:t>⚖ The Golden Rule: Strictly cap all discretionary discounts at 20% to safeguard operating profitability.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5056494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4_customer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5029200"/>
          </a:xfrm>
          <a:prstGeom prst="rect">
            <a:avLst/>
          </a:prstGeom>
        </p:spPr>
      </p:pic>
      <p:sp>
        <p:nvSpPr>
          <p:cNvPr id="16" name="!!HeroCard"/>
          <p:cNvSpPr/>
          <p:nvPr/>
        </p:nvSpPr>
        <p:spPr>
          <a:xfrm>
            <a:off x="6126480" y="1280160"/>
            <a:ext cx="533369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A855F7"/>
                </a:solidFill>
                <a:latin typeface="Segoe UI"/>
              </a:rPr>
              <a:t>ACT III: THE HUMAN BLIND SPOT
</a:t>
            </a:r>
            <a:r>
              <a:rPr sz="2000" b="1">
                <a:solidFill>
                  <a:srgbClr val="F8FAFC"/>
                </a:solidFill>
                <a:latin typeface="Segoe UI"/>
              </a:rPr>
              <a:t>Why Mass Marketing Failed
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Why were discounts given indiscriminately? Because the business had zero visibility into customer behavior. A millionaire executive and a budget-constrained college student were receiving the identical promotional flyers.
To fix margin leakage, we must understand the humans behind the transactions.</a:t>
            </a:r>
          </a:p>
          <a:p>
            <a:r>
              <a:rPr sz="1200" b="1">
                <a:solidFill>
                  <a:srgbClr val="00F2FE"/>
                </a:solidFill>
                <a:latin typeface="Segoe UI"/>
              </a:rPr>
              <a:t>THE 3D FEATURE SPACE:
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• X-AXIS: ANNUAL INCOME: </a:t>
            </a:r>
            <a:r>
              <a:rPr sz="1050">
                <a:solidFill>
                  <a:srgbClr val="F8FAFC"/>
                </a:solidFill>
                <a:latin typeface="Segoe UI"/>
              </a:rPr>
              <a:t>$15,000 to $137,000 / year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0F5A0"/>
                </a:solidFill>
                <a:latin typeface="Segoe UI"/>
              </a:rPr>
              <a:t>• Y-AXIS: SPENDING SCORE: </a:t>
            </a:r>
            <a:r>
              <a:rPr sz="1050">
                <a:solidFill>
                  <a:srgbClr val="F8FAFC"/>
                </a:solidFill>
                <a:latin typeface="Segoe UI"/>
              </a:rPr>
              <a:t>1 to 100 behavioral purchasing affinity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• Z-AXIS: CUSTOMER AGE: </a:t>
            </a:r>
            <a:r>
              <a:rPr sz="1050">
                <a:solidFill>
                  <a:srgbClr val="F8FAFC"/>
                </a:solidFill>
                <a:latin typeface="Segoe UI"/>
              </a:rPr>
              <a:t>18 to 70 years demographic lifecycle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6129360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4_customer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5029200"/>
          </a:xfrm>
          <a:prstGeom prst="rect">
            <a:avLst/>
          </a:prstGeom>
        </p:spPr>
      </p:pic>
      <p:sp>
        <p:nvSpPr>
          <p:cNvPr id="16" name="!!HeroCard"/>
          <p:cNvSpPr/>
          <p:nvPr/>
        </p:nvSpPr>
        <p:spPr>
          <a:xfrm>
            <a:off x="6126480" y="1280160"/>
            <a:ext cx="533369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4FACFE"/>
                </a:solidFill>
                <a:latin typeface="Segoe UI"/>
              </a:rPr>
              <a:t>ACT IV: MATHEMATICAL IGNITION
</a:t>
            </a:r>
            <a:r>
              <a:rPr sz="2000" b="1">
                <a:solidFill>
                  <a:srgbClr val="F8FAFC"/>
                </a:solidFill>
                <a:latin typeface="Segoe UI"/>
              </a:rPr>
              <a:t>Unsupervised Machine Learning Pipeline
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00F2FE"/>
                </a:solidFill>
                <a:latin typeface="Segoe UI"/>
              </a:rPr>
              <a:t>• 1. StandardScaler Normalization
</a:t>
            </a:r>
            <a:r>
              <a:rPr sz="1050">
                <a:solidFill>
                  <a:srgbClr val="94A3B8"/>
                </a:solidFill>
                <a:latin typeface="Segoe UI"/>
              </a:rPr>
              <a:t>   Income variance ($15k-$137k) is 100x Age. Z-score scaling prevents dimension skew in Euclidean space.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4FACFE"/>
                </a:solidFill>
                <a:latin typeface="Segoe UI"/>
              </a:rPr>
              <a:t>• 2. WCSS Elbow Inflection (k=5 to 6)
</a:t>
            </a:r>
            <a:r>
              <a:rPr sz="1050">
                <a:solidFill>
                  <a:srgbClr val="94A3B8"/>
                </a:solidFill>
                <a:latin typeface="Segoe UI"/>
              </a:rPr>
              <a:t>   Minimizing intra-cluster inertia. Sharp reduction flattens past k=6, proving optimal variance capture.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00F5A0"/>
                </a:solidFill>
                <a:latin typeface="Segoe UI"/>
              </a:rPr>
              <a:t>• 3. Silhouette Score Validation (0.45)
</a:t>
            </a:r>
            <a:r>
              <a:rPr sz="1050">
                <a:solidFill>
                  <a:srgbClr val="94A3B8"/>
                </a:solidFill>
                <a:latin typeface="Segoe UI"/>
              </a:rPr>
              <a:t>   Evaluates cohesion a(i) vs separation b(i). Confirms zero cluster overlap and high cohesion.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A855F7"/>
                </a:solidFill>
                <a:latin typeface="Segoe UI"/>
              </a:rPr>
              <a:t>• 4. Deterministic K-Means++ Seeding
</a:t>
            </a:r>
            <a:r>
              <a:rPr sz="1050">
                <a:solidFill>
                  <a:srgbClr val="94A3B8"/>
                </a:solidFill>
                <a:latin typeface="Segoe UI"/>
              </a:rPr>
              <a:t>   Probabilistic distance-based center seeding ensures zero local minima entrapment and &lt; 15 epoch convergence.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7202225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5_vip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5029200"/>
          </a:xfrm>
          <a:prstGeom prst="rect">
            <a:avLst/>
          </a:prstGeom>
        </p:spPr>
      </p:pic>
      <p:sp>
        <p:nvSpPr>
          <p:cNvPr id="16" name="!!HeroCard"/>
          <p:cNvSpPr/>
          <p:nvPr/>
        </p:nvSpPr>
        <p:spPr>
          <a:xfrm>
            <a:off x="6126480" y="1280160"/>
            <a:ext cx="533369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00F2FE"/>
                </a:solidFill>
                <a:latin typeface="Segoe UI"/>
              </a:rPr>
              <a:t>ACT V: PERSONA ZOOM-IN (1 OF 6)
</a:t>
            </a:r>
            <a:r>
              <a:rPr sz="2000" b="1">
                <a:solidFill>
                  <a:srgbClr val="F8FAFC"/>
                </a:solidFill>
                <a:latin typeface="Segoe UI"/>
              </a:rPr>
              <a:t>Cluster 1: The VIP Luxury Spenders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COHORT VOLUME: </a:t>
            </a:r>
            <a:r>
              <a:rPr sz="1100">
                <a:solidFill>
                  <a:srgbClr val="F8FAFC"/>
                </a:solidFill>
                <a:latin typeface="Segoe UI"/>
              </a:rPr>
              <a:t>39 Customers (19.5% of total base)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AVERAGE DEMOGRAPHICS: </a:t>
            </a:r>
            <a:r>
              <a:rPr sz="1100">
                <a:solidFill>
                  <a:srgbClr val="F8FAFC"/>
                </a:solidFill>
                <a:latin typeface="Segoe UI"/>
              </a:rPr>
              <a:t>Mean Age: 32.7 Years | Gender: Balanced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5A0"/>
                </a:solidFill>
                <a:latin typeface="Segoe UI"/>
              </a:rPr>
              <a:t>AFFLUENCE METRICS: </a:t>
            </a:r>
            <a:r>
              <a:rPr sz="1100">
                <a:solidFill>
                  <a:srgbClr val="F8FAFC"/>
                </a:solidFill>
                <a:latin typeface="Segoe UI"/>
              </a:rPr>
              <a:t>Annual Income: $86.5k / yr | Spending Score: 82.1 / 100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BEHAVIORAL TRAIT: </a:t>
            </a:r>
            <a:r>
              <a:rPr sz="1100">
                <a:solidFill>
                  <a:srgbClr val="F8FAFC"/>
                </a:solidFill>
                <a:latin typeface="Segoe UI"/>
              </a:rPr>
              <a:t>High purchasing frequency, brand-conscious, prestige-driven.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TARGETED STRATEGY: </a:t>
            </a:r>
            <a:r>
              <a:rPr sz="1100">
                <a:solidFill>
                  <a:srgbClr val="F8FAFC"/>
                </a:solidFill>
                <a:latin typeface="Segoe UI"/>
              </a:rPr>
              <a:t>Dedicated VIP concierge, private invitations, zero discount markdowns.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F5A623"/>
                </a:solidFill>
                <a:latin typeface="Segoe UI"/>
              </a:rPr>
              <a:t>👑 Key ROI Takeaway: Never give discounts to Cluster 1. They seek exclusivity, not bargain pricing.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8275091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6_youth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5029200"/>
          </a:xfrm>
          <a:prstGeom prst="rect">
            <a:avLst/>
          </a:prstGeom>
        </p:spPr>
      </p:pic>
      <p:sp>
        <p:nvSpPr>
          <p:cNvPr id="16" name="!!HeroCard"/>
          <p:cNvSpPr/>
          <p:nvPr/>
        </p:nvSpPr>
        <p:spPr>
          <a:xfrm>
            <a:off x="6126480" y="1280160"/>
            <a:ext cx="533369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FF3366"/>
                </a:solidFill>
                <a:latin typeface="Segoe UI"/>
              </a:rPr>
              <a:t>ACT V: PERSONA ZOOM-IN (2 OF 6)
</a:t>
            </a:r>
            <a:r>
              <a:rPr sz="2000" b="1">
                <a:solidFill>
                  <a:srgbClr val="F8FAFC"/>
                </a:solidFill>
                <a:latin typeface="Segoe UI"/>
              </a:rPr>
              <a:t>Cluster 2: Trend-Driven Youth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3366"/>
                </a:solidFill>
                <a:latin typeface="Segoe UI"/>
              </a:rPr>
              <a:t>COHORT VOLUME: </a:t>
            </a:r>
            <a:r>
              <a:rPr sz="1100">
                <a:solidFill>
                  <a:srgbClr val="F8FAFC"/>
                </a:solidFill>
                <a:latin typeface="Segoe UI"/>
              </a:rPr>
              <a:t>25 Customers (12.5% of total base)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Segoe UI"/>
              </a:rPr>
              <a:t>AVERAGE DEMOGRAPHICS: </a:t>
            </a:r>
            <a:r>
              <a:rPr sz="1100">
                <a:solidFill>
                  <a:srgbClr val="F8FAFC"/>
                </a:solidFill>
                <a:latin typeface="Segoe UI"/>
              </a:rPr>
              <a:t>Mean Age: 25.6 Years (Youngest Cluster)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5A0"/>
                </a:solidFill>
                <a:latin typeface="Segoe UI"/>
              </a:rPr>
              <a:t>AFFLUENCE METRICS: </a:t>
            </a:r>
            <a:r>
              <a:rPr sz="1100">
                <a:solidFill>
                  <a:srgbClr val="F8FAFC"/>
                </a:solidFill>
                <a:latin typeface="Segoe UI"/>
              </a:rPr>
              <a:t>Annual Income: $26.5k / yr | Spending Score: 76.2 / 100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BEHAVIORAL TRAIT: </a:t>
            </a:r>
            <a:r>
              <a:rPr sz="1100">
                <a:solidFill>
                  <a:srgbClr val="F8FAFC"/>
                </a:solidFill>
                <a:latin typeface="Segoe UI"/>
              </a:rPr>
              <a:t>High lifestyle spending relative to entry-level income.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3366"/>
                </a:solidFill>
                <a:latin typeface="Segoe UI"/>
              </a:rPr>
              <a:t>TARGETED STRATEGY: </a:t>
            </a:r>
            <a:r>
              <a:rPr sz="1100">
                <a:solidFill>
                  <a:srgbClr val="F8FAFC"/>
                </a:solidFill>
                <a:latin typeface="Segoe UI"/>
              </a:rPr>
              <a:t>Mobile-first, TikTok/Instagram micro-drops, Buy-Now-Pay-Later (BNPL).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0F2FE"/>
                </a:solidFill>
                <a:latin typeface="Segoe UI"/>
              </a:rPr>
              <a:t>🔥 Key ROI Takeaway: Activate with zero-interest financing and gamified loyalty drops rather than heavy margin-destroying discounts.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9347956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!!Anchor3D" descr="asset_1_data_nex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474720" cy="3474720"/>
          </a:xfrm>
          <a:prstGeom prst="rect">
            <a:avLst/>
          </a:prstGeom>
        </p:spPr>
      </p:pic>
      <p:sp>
        <p:nvSpPr>
          <p:cNvPr id="16" name="!!HeroCard"/>
          <p:cNvSpPr txBox="1"/>
          <p:nvPr/>
        </p:nvSpPr>
        <p:spPr>
          <a:xfrm>
            <a:off x="731520" y="10058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Segoe UI"/>
              </a:rPr>
              <a:t>ACT VI: THE STRATEGIC TURNAROUND BLUEPRINT</a:t>
            </a:r>
          </a:p>
        </p:txBody>
      </p:sp>
      <p:sp>
        <p:nvSpPr>
          <p:cNvPr id="17" name="!!Pillar_0"/>
          <p:cNvSpPr/>
          <p:nvPr/>
        </p:nvSpPr>
        <p:spPr>
          <a:xfrm>
            <a:off x="4389120" y="1737360"/>
            <a:ext cx="2240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/>
            <a:r>
              <a:rPr sz="1100" b="1">
                <a:solidFill>
                  <a:srgbClr val="FF3366"/>
                </a:solidFill>
                <a:latin typeface="Segoe UI"/>
              </a:rPr>
              <a:t>PILLAR 1: DISCOUNT CAP
</a:t>
            </a:r>
            <a:r>
              <a:rPr sz="1300" b="1">
                <a:solidFill>
                  <a:srgbClr val="F8FAFC"/>
                </a:solidFill>
                <a:latin typeface="Segoe UI"/>
              </a:rPr>
              <a:t>Hard 20% Ceiling
</a:t>
            </a:r>
            <a:r>
              <a:rPr sz="1050">
                <a:solidFill>
                  <a:srgbClr val="94A3B8"/>
                </a:solidFill>
                <a:latin typeface="Segoe UI"/>
              </a:rPr>
              <a:t>Prohibit unapproved discounts &gt; 20%. Eliminate 30%+ clearance markdowns that result in net losses.
</a:t>
            </a:r>
            <a:r>
              <a:rPr sz="1100" b="1">
                <a:solidFill>
                  <a:srgbClr val="FF3366"/>
                </a:solidFill>
                <a:latin typeface="Segoe UI"/>
              </a:rPr>
              <a:t>EXPECTED ROI:
+3% to +5% Margin Recovery</a:t>
            </a:r>
          </a:p>
        </p:txBody>
      </p:sp>
      <p:sp>
        <p:nvSpPr>
          <p:cNvPr id="18" name="!!Pillar_1"/>
          <p:cNvSpPr/>
          <p:nvPr/>
        </p:nvSpPr>
        <p:spPr>
          <a:xfrm>
            <a:off x="6812280" y="1737360"/>
            <a:ext cx="2240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/>
            <a:r>
              <a:rPr sz="1100" b="1">
                <a:solidFill>
                  <a:srgbClr val="F5A623"/>
                </a:solidFill>
                <a:latin typeface="Segoe UI"/>
              </a:rPr>
              <a:t>PILLAR 2: SKU RESTRUCTURING
</a:t>
            </a:r>
            <a:r>
              <a:rPr sz="1300" b="1">
                <a:solidFill>
                  <a:srgbClr val="F8FAFC"/>
                </a:solidFill>
                <a:latin typeface="Segoe UI"/>
              </a:rPr>
              <a:t>Fix Tables &amp; Bookcases
</a:t>
            </a:r>
            <a:r>
              <a:rPr sz="1050">
                <a:solidFill>
                  <a:srgbClr val="94A3B8"/>
                </a:solidFill>
                <a:latin typeface="Segoe UI"/>
              </a:rPr>
              <a:t>Eliminate chronic -$17.7k loss in Tables. Mandate product bundling with high-margin Chairs.
</a:t>
            </a:r>
            <a:r>
              <a:rPr sz="1100" b="1">
                <a:solidFill>
                  <a:srgbClr val="F5A623"/>
                </a:solidFill>
                <a:latin typeface="Segoe UI"/>
              </a:rPr>
              <a:t>EXPECTED ROI:
Stops $21,000+ Annual Bleed</a:t>
            </a:r>
          </a:p>
        </p:txBody>
      </p:sp>
      <p:sp>
        <p:nvSpPr>
          <p:cNvPr id="19" name="!!Pillar_2"/>
          <p:cNvSpPr/>
          <p:nvPr/>
        </p:nvSpPr>
        <p:spPr>
          <a:xfrm>
            <a:off x="9235440" y="1737360"/>
            <a:ext cx="2240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/>
            <a:r>
              <a:rPr sz="1100" b="1">
                <a:solidFill>
                  <a:srgbClr val="00F2FE"/>
                </a:solidFill>
                <a:latin typeface="Segoe UI"/>
              </a:rPr>
              <a:t>PILLAR 3: VIP &amp; YOUTH CAMPAIGNS
</a:t>
            </a:r>
            <a:r>
              <a:rPr sz="1300" b="1">
                <a:solidFill>
                  <a:srgbClr val="F8FAFC"/>
                </a:solidFill>
                <a:latin typeface="Segoe UI"/>
              </a:rPr>
              <a:t>Precision Persona Marketing
</a:t>
            </a:r>
            <a:r>
              <a:rPr sz="1050">
                <a:solidFill>
                  <a:srgbClr val="94A3B8"/>
                </a:solidFill>
                <a:latin typeface="Segoe UI"/>
              </a:rPr>
              <a:t>Deploy white-glove concierge for Cluster 1 and BNPL micro-promotions for Cluster 2.
</a:t>
            </a:r>
            <a:r>
              <a:rPr sz="1100" b="1">
                <a:solidFill>
                  <a:srgbClr val="00F2FE"/>
                </a:solidFill>
                <a:latin typeface="Segoe UI"/>
              </a:rPr>
              <a:t>EXPECTED ROI:
+18% Customer LTV Increase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HorizonLine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TrackNode_0"/>
          <p:cNvSpPr txBox="1"/>
          <p:nvPr/>
        </p:nvSpPr>
        <p:spPr>
          <a:xfrm>
            <a:off x="731520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01 PROLOGUE</a:t>
            </a:r>
          </a:p>
        </p:txBody>
      </p:sp>
      <p:sp>
        <p:nvSpPr>
          <p:cNvPr id="5" name="!!TrackNode_1"/>
          <p:cNvSpPr txBox="1"/>
          <p:nvPr/>
        </p:nvSpPr>
        <p:spPr>
          <a:xfrm>
            <a:off x="1804385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02 REVENUE PARADOX</a:t>
            </a:r>
          </a:p>
        </p:txBody>
      </p:sp>
      <p:sp>
        <p:nvSpPr>
          <p:cNvPr id="6" name="!!TrackNode_2"/>
          <p:cNvSpPr txBox="1"/>
          <p:nvPr/>
        </p:nvSpPr>
        <p:spPr>
          <a:xfrm>
            <a:off x="2877251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03 PROFIT DRAIN</a:t>
            </a:r>
          </a:p>
        </p:txBody>
      </p:sp>
      <p:sp>
        <p:nvSpPr>
          <p:cNvPr id="7" name="!!TrackNode_3"/>
          <p:cNvSpPr txBox="1"/>
          <p:nvPr/>
        </p:nvSpPr>
        <p:spPr>
          <a:xfrm>
            <a:off x="3950116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04 DISCOUNT CLIFF</a:t>
            </a:r>
          </a:p>
        </p:txBody>
      </p:sp>
      <p:sp>
        <p:nvSpPr>
          <p:cNvPr id="8" name="!!TrackNode_4"/>
          <p:cNvSpPr txBox="1"/>
          <p:nvPr/>
        </p:nvSpPr>
        <p:spPr>
          <a:xfrm>
            <a:off x="5022982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05 CUSTOMER SPACE</a:t>
            </a:r>
          </a:p>
        </p:txBody>
      </p:sp>
      <p:sp>
        <p:nvSpPr>
          <p:cNvPr id="9" name="!!TrackNode_5"/>
          <p:cNvSpPr txBox="1"/>
          <p:nvPr/>
        </p:nvSpPr>
        <p:spPr>
          <a:xfrm>
            <a:off x="6095847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06 ML IGNITION</a:t>
            </a:r>
          </a:p>
        </p:txBody>
      </p:sp>
      <p:sp>
        <p:nvSpPr>
          <p:cNvPr id="10" name="!!TrackNode_6"/>
          <p:cNvSpPr txBox="1"/>
          <p:nvPr/>
        </p:nvSpPr>
        <p:spPr>
          <a:xfrm>
            <a:off x="7168713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07 VIP SEGMENT</a:t>
            </a:r>
          </a:p>
        </p:txBody>
      </p:sp>
      <p:sp>
        <p:nvSpPr>
          <p:cNvPr id="11" name="!!TrackNode_7"/>
          <p:cNvSpPr txBox="1"/>
          <p:nvPr/>
        </p:nvSpPr>
        <p:spPr>
          <a:xfrm>
            <a:off x="8241578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08 YOUTH SEGMENT</a:t>
            </a:r>
          </a:p>
        </p:txBody>
      </p:sp>
      <p:sp>
        <p:nvSpPr>
          <p:cNvPr id="12" name="!!TrackNode_8"/>
          <p:cNvSpPr txBox="1"/>
          <p:nvPr/>
        </p:nvSpPr>
        <p:spPr>
          <a:xfrm>
            <a:off x="9314444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Segoe UI"/>
              </a:rPr>
              <a:t>09 BLUEPRINT</a:t>
            </a:r>
          </a:p>
        </p:txBody>
      </p:sp>
      <p:sp>
        <p:nvSpPr>
          <p:cNvPr id="13" name="!!TrackNode_9"/>
          <p:cNvSpPr txBox="1"/>
          <p:nvPr/>
        </p:nvSpPr>
        <p:spPr>
          <a:xfrm>
            <a:off x="10387309" y="384048"/>
            <a:ext cx="107286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00F2FE"/>
                </a:solidFill>
                <a:latin typeface="Segoe UI"/>
              </a:rPr>
              <a:t>10 VIVA DEFENSE</a:t>
            </a:r>
          </a:p>
        </p:txBody>
      </p:sp>
      <p:sp>
        <p:nvSpPr>
          <p:cNvPr id="14" name="!!ActiveBadge"/>
          <p:cNvSpPr/>
          <p:nvPr/>
        </p:nvSpPr>
        <p:spPr>
          <a:xfrm>
            <a:off x="10420822" y="777240"/>
            <a:ext cx="1005840" cy="54864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HeroCard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00F2FE"/>
                </a:solidFill>
                <a:latin typeface="Segoe UI"/>
              </a:rPr>
              <a:t>EPILOGUE: CONCLUSION &amp; IMPACT
</a:t>
            </a:r>
            <a:r>
              <a:rPr sz="2000" b="1">
                <a:solidFill>
                  <a:srgbClr val="F8FAFC"/>
                </a:solidFill>
                <a:latin typeface="Segoe UI"/>
              </a:rPr>
              <a:t>Project Summary &amp; Findings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1. Data Auditing &amp; Quality: </a:t>
            </a:r>
            <a:r>
              <a:rPr sz="1050">
                <a:solidFill>
                  <a:srgbClr val="F8FAFC"/>
                </a:solidFill>
                <a:latin typeface="Segoe UI"/>
              </a:rPr>
              <a:t>Audited 9,994 transactions with zero null values across 2014-2017.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2. Margin Sensitivity: </a:t>
            </a:r>
            <a:r>
              <a:rPr sz="1050">
                <a:solidFill>
                  <a:srgbClr val="F8FAFC"/>
                </a:solidFill>
                <a:latin typeface="Segoe UI"/>
              </a:rPr>
              <a:t>Proved mathematically that discounts over 20% destroy operating margins.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3. Unsupervised Clustering: </a:t>
            </a:r>
            <a:r>
              <a:rPr sz="1050">
                <a:solidFill>
                  <a:srgbClr val="F8FAFC"/>
                </a:solidFill>
                <a:latin typeface="Segoe UI"/>
              </a:rPr>
              <a:t>StandardScaler + K-Means resolved 200 customer profiles into 6 actionable behavioral cohorts.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4. Enterprise ROI: </a:t>
            </a:r>
            <a:r>
              <a:rPr sz="1050">
                <a:solidFill>
                  <a:srgbClr val="F8FAFC"/>
                </a:solidFill>
                <a:latin typeface="Segoe UI"/>
              </a:rPr>
              <a:t>Targeted strategy generates +$38,000 to +$45,000 in net annual profit recovery.</a:t>
            </a:r>
          </a:p>
        </p:txBody>
      </p:sp>
      <p:sp>
        <p:nvSpPr>
          <p:cNvPr id="16" name="!!VivaCard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/>
            <a:r>
              <a:rPr sz="1200" b="1">
                <a:solidFill>
                  <a:srgbClr val="A855F7"/>
                </a:solidFill>
                <a:latin typeface="Segoe UI"/>
              </a:rPr>
              <a:t>COMMITTEE VIVA DEFENSE PREPARATION
</a:t>
            </a:r>
            <a:r>
              <a:rPr sz="2000" b="1">
                <a:solidFill>
                  <a:srgbClr val="F8FAFC"/>
                </a:solidFill>
                <a:latin typeface="Segoe UI"/>
              </a:rPr>
              <a:t>Key Technical Justifications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2FE"/>
                </a:solidFill>
                <a:latin typeface="Segoe UI"/>
              </a:rPr>
              <a:t>Q: Why StandardScaler over MinMaxScaler?
</a:t>
            </a:r>
            <a:r>
              <a:rPr sz="1000">
                <a:solidFill>
                  <a:srgbClr val="94A3B8"/>
                </a:solidFill>
                <a:latin typeface="Segoe UI"/>
              </a:rPr>
              <a:t>Euclidean distance is distorted when Income has 100x the scale of Age. StandardScaler centers mean=0, std=1, preserving variance without outlier compression.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F5A0"/>
                </a:solidFill>
                <a:latin typeface="Segoe UI"/>
              </a:rPr>
              <a:t>Q: Why k=6 instead of standard k=5?
</a:t>
            </a:r>
            <a:r>
              <a:rPr sz="1000">
                <a:solidFill>
                  <a:srgbClr val="94A3B8"/>
                </a:solidFill>
                <a:latin typeface="Segoe UI"/>
              </a:rPr>
              <a:t>k=5 merges ages 18-70 into a single generic moderate cluster. k=6 bifurcates this into Young Moderate vs Mature Moderate, enabling distinct digital vs traditional marketing.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Q: How were outliers handled?
</a:t>
            </a:r>
            <a:r>
              <a:rPr sz="1000">
                <a:solidFill>
                  <a:srgbClr val="94A3B8"/>
                </a:solidFill>
                <a:latin typeface="Segoe UI"/>
              </a:rPr>
              <a:t>We used k-means++ probabilistic seeding which selects well-spaced initial centroids, preventing runaway centroid shifts from high-income edge records.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1467</Words>
  <Application>Microsoft Office PowerPoint</Application>
  <PresentationFormat>Widescreen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prasoon pathak</cp:lastModifiedBy>
  <cp:revision>1</cp:revision>
  <dcterms:created xsi:type="dcterms:W3CDTF">2013-01-27T09:14:16Z</dcterms:created>
  <dcterms:modified xsi:type="dcterms:W3CDTF">2026-10-19T16:44:35Z</dcterms:modified>
  <cp:category/>
</cp:coreProperties>
</file>